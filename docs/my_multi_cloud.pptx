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4206240"/>
            <a:ext cx="6035040" cy="6035040"/>
          </a:xfrm>
          <a:prstGeom prst="ellipse">
            <a:avLst/>
          </a:prstGeom>
          <a:noFill/>
          <a:ln w="19050">
            <a:solidFill>
              <a:srgbClr val="2531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04120" y="4892040"/>
            <a:ext cx="4663440" cy="4663440"/>
          </a:xfrm>
          <a:prstGeom prst="ellipse">
            <a:avLst/>
          </a:prstGeom>
          <a:noFill/>
          <a:ln w="12700">
            <a:solidFill>
              <a:srgbClr val="2531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554480" y="-1737360"/>
            <a:ext cx="2633472" cy="2633472"/>
          </a:xfrm>
          <a:prstGeom prst="ellipse">
            <a:avLst/>
          </a:prstGeom>
          <a:noFill/>
          <a:ln w="15875">
            <a:solidFill>
              <a:srgbClr val="2531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60152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Aptos Display"/>
              </a:rPr>
              <a:t>Air Quality &amp; Weather 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834640"/>
            <a:ext cx="92628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D6DEFF"/>
                </a:solidFill>
                <a:latin typeface="Calibri"/>
              </a:rPr>
              <a:t>Correlating real-time weather with historical air quality — the same data product built three times, on Google Cloud, Microsoft Azure and AWS.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86784"/>
            <a:ext cx="103601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C5FD"/>
                </a:solidFill>
                <a:latin typeface="Calibri"/>
              </a:rPr>
              <a:t>BUILT ON ALL THREE MAJOR CLOUDS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12467" y="438912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27" y="4723709"/>
            <a:ext cx="1874519" cy="2909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792827" y="438912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571" y="4658868"/>
            <a:ext cx="420624" cy="420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97499" y="4768596"/>
            <a:ext cx="163677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72A"/>
                </a:solidFill>
                <a:latin typeface="Calibri"/>
              </a:rPr>
              <a:t>Microsoft Azure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73187" y="438912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0931" y="4649724"/>
            <a:ext cx="623328" cy="438912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227" y="4732020"/>
            <a:ext cx="458736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0564" y="4768596"/>
            <a:ext cx="1434071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72A"/>
                </a:solidFill>
                <a:latin typeface="Calibri"/>
              </a:rPr>
              <a:t>Amazon Web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4476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93C5FD"/>
                </a:solidFill>
                <a:latin typeface="Calibri"/>
              </a:rPr>
              <a:t>PRESENTED BY SYED SHOAIB SHERAZI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4A"/>
                </a:solidFill>
                <a:latin typeface="Aptos Display"/>
              </a:rPr>
              <a:t>Problem Overview and Solution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alibri"/>
              </a:rPr>
              <a:t>Why this project exists, and how the pipeline answers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61872"/>
            <a:ext cx="5349240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480060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1284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2194560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0F172A"/>
                </a:solidFill>
                <a:latin typeface="Calibri"/>
              </a:rPr>
              <a:t>Air quality and weather data live in separate silos, so it's hard to see how conditions like wind or rain actually affect pollution.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55264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3236976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0F172A"/>
                </a:solidFill>
                <a:latin typeface="Calibri"/>
              </a:rPr>
              <a:t>Historical air-quality records are scattered across raw API responses, not organized into a clean, queryable dataset.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97679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4279392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0F172A"/>
                </a:solidFill>
                <a:latin typeface="Calibri"/>
              </a:rPr>
              <a:t>There is no live, at-a-glance view of current conditions and what they mean for air quality right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1261872"/>
            <a:ext cx="5349240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11112" y="1536192"/>
            <a:ext cx="4800600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75564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C55E"/>
                </a:solidFill>
                <a:latin typeface="Calibri"/>
              </a:rPr>
              <a:t>OUR SOLUTION</a:t>
            </a:r>
          </a:p>
        </p:txBody>
      </p:sp>
      <p:sp>
        <p:nvSpPr>
          <p:cNvPr id="17" name="Oval 16"/>
          <p:cNvSpPr/>
          <p:nvPr/>
        </p:nvSpPr>
        <p:spPr>
          <a:xfrm>
            <a:off x="6611112" y="2212848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2194560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0F172A"/>
                </a:solidFill>
                <a:latin typeface="Calibri"/>
              </a:rPr>
              <a:t>A unified data platform joins historical air-quality data with real-time weather data, enabling correlation and cross-domain analysis.</a:t>
            </a:r>
          </a:p>
        </p:txBody>
      </p:sp>
      <p:sp>
        <p:nvSpPr>
          <p:cNvPr id="19" name="Oval 18"/>
          <p:cNvSpPr/>
          <p:nvPr/>
        </p:nvSpPr>
        <p:spPr>
          <a:xfrm>
            <a:off x="6611112" y="3255264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3236976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0F172A"/>
                </a:solidFill>
                <a:latin typeface="Calibri"/>
              </a:rPr>
              <a:t>An automated batch pipeline ingests OpenAQ history via dltHub, transforms it with Spark, and lands it through a governed bronze → silver → gold layering.</a:t>
            </a:r>
          </a:p>
        </p:txBody>
      </p:sp>
      <p:sp>
        <p:nvSpPr>
          <p:cNvPr id="21" name="Oval 20"/>
          <p:cNvSpPr/>
          <p:nvPr/>
        </p:nvSpPr>
        <p:spPr>
          <a:xfrm>
            <a:off x="6611112" y="4297679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4279392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0F172A"/>
                </a:solidFill>
                <a:latin typeface="Calibri"/>
              </a:rPr>
              <a:t>A Kafka-powered streaming pipeline continuously ingests live OpenWeather data and powers a real-time Streamlit dashboard.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009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4748B"/>
                </a:solidFill>
                <a:latin typeface="Calibri"/>
              </a:rPr>
              <a:t>BUILT ON ALL THREE MAJOR CLOUDS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77840"/>
            <a:ext cx="3429000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577840"/>
            <a:ext cx="82296" cy="6949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5783579"/>
            <a:ext cx="1828800" cy="28384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315968" y="5577840"/>
            <a:ext cx="3429000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5577840"/>
            <a:ext cx="82296" cy="694944"/>
          </a:xfrm>
          <a:prstGeom prst="rect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5742431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38928" y="5824727"/>
            <a:ext cx="2478024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Microsoft Azure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9016" y="5577840"/>
            <a:ext cx="3429000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29016" y="5577840"/>
            <a:ext cx="82296" cy="69494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39912" y="5724144"/>
            <a:ext cx="562163" cy="402336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5806440"/>
            <a:ext cx="397571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148379" y="5824727"/>
            <a:ext cx="228162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Amazon Web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Air Quality &amp; Weather Data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4A"/>
                </a:solidFill>
                <a:latin typeface="Aptos Display"/>
              </a:rPr>
              <a:t>What I Learned Across 3 Clouds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alibri"/>
              </a:rPr>
              <a:t>The same data product exposed very different cloud-native tradeoffs.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3538728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2990088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97964"/>
            <a:ext cx="1828800" cy="2838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487168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GCS  ·  Spark  ·  BigQuery  ·  Bruin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296265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BigQuery is the warehouse itself — serverless and pay-per-query, with no cluster to size or shut down.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" y="374904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685032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GCS holds the lake; Spark reads and writes the bronze and silver prefixes through the GCS connector.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453542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471416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One service-account key plus IAM roles is the entire auth story, shared across every container.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5321808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25780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Connector versions bite: the Maven-resolved GCS jar clashed with the Guava already on Spark's classpath.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1298448"/>
            <a:ext cx="3538728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6007" y="1572768"/>
            <a:ext cx="2990088" cy="54864"/>
          </a:xfrm>
          <a:prstGeom prst="rect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7" y="1947672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66359" y="2029967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Calibri"/>
              </a:rPr>
              <a:t>Microsoft Azure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2487168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ADLS Gen2  ·  Databricks  ·  Delta Lake</a:t>
            </a:r>
          </a:p>
        </p:txBody>
      </p:sp>
      <p:sp>
        <p:nvSpPr>
          <p:cNvPr id="22" name="Oval 21"/>
          <p:cNvSpPr/>
          <p:nvPr/>
        </p:nvSpPr>
        <p:spPr>
          <a:xfrm>
            <a:off x="4654295" y="2962656"/>
            <a:ext cx="118872" cy="118872"/>
          </a:xfrm>
          <a:prstGeom prst="ellipse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2898648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Databricks is compute and warehouse at once — Bronze, Silver and Gold are managed Delta tables, not lake files.</a:t>
            </a:r>
          </a:p>
        </p:txBody>
      </p:sp>
      <p:sp>
        <p:nvSpPr>
          <p:cNvPr id="24" name="Oval 23"/>
          <p:cNvSpPr/>
          <p:nvPr/>
        </p:nvSpPr>
        <p:spPr>
          <a:xfrm>
            <a:off x="4654295" y="3749040"/>
            <a:ext cx="118872" cy="118872"/>
          </a:xfrm>
          <a:prstGeom prst="ellipse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28616" y="3685032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ADLS Gen2 needs the hierarchical namespace switched on, and here it only ever lands raw data.</a:t>
            </a:r>
          </a:p>
        </p:txBody>
      </p:sp>
      <p:sp>
        <p:nvSpPr>
          <p:cNvPr id="26" name="Oval 25"/>
          <p:cNvSpPr/>
          <p:nvPr/>
        </p:nvSpPr>
        <p:spPr>
          <a:xfrm>
            <a:off x="4654295" y="4535424"/>
            <a:ext cx="118872" cy="118872"/>
          </a:xfrm>
          <a:prstGeom prst="ellipse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4471416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Delta Lake adds ACID transactions and time travel on top of plain object storage.</a:t>
            </a:r>
          </a:p>
        </p:txBody>
      </p:sp>
      <p:sp>
        <p:nvSpPr>
          <p:cNvPr id="28" name="Oval 27"/>
          <p:cNvSpPr/>
          <p:nvPr/>
        </p:nvSpPr>
        <p:spPr>
          <a:xfrm>
            <a:off x="4654295" y="5321808"/>
            <a:ext cx="118872" cy="118872"/>
          </a:xfrm>
          <a:prstGeom prst="ellipse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8616" y="525780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SQL Warehouse auto-stop is the real cost guard — an idle cluster is the expensive mistake.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0456" y="1298448"/>
            <a:ext cx="3538728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94776" y="1572768"/>
            <a:ext cx="2990088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94776" y="1929384"/>
            <a:ext cx="592746" cy="420624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011679"/>
            <a:ext cx="428154" cy="2560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33826" y="2029967"/>
            <a:ext cx="2305901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Calibri"/>
              </a:rPr>
              <a:t>Amazon Web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2487168"/>
            <a:ext cx="299008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S3  ·  Glue  ·  Iceberg  ·  Athena</a:t>
            </a:r>
          </a:p>
        </p:txBody>
      </p:sp>
      <p:sp>
        <p:nvSpPr>
          <p:cNvPr id="36" name="Oval 35"/>
          <p:cNvSpPr/>
          <p:nvPr/>
        </p:nvSpPr>
        <p:spPr>
          <a:xfrm>
            <a:off x="8513064" y="2962656"/>
            <a:ext cx="118872" cy="11887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87384" y="2898648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Athena and Glue cost nothing while idle — you pay per query scanned, not per running cluster.</a:t>
            </a:r>
          </a:p>
        </p:txBody>
      </p:sp>
      <p:sp>
        <p:nvSpPr>
          <p:cNvPr id="38" name="Oval 37"/>
          <p:cNvSpPr/>
          <p:nvPr/>
        </p:nvSpPr>
        <p:spPr>
          <a:xfrm>
            <a:off x="8513064" y="3749040"/>
            <a:ext cx="118872" cy="11887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87384" y="3685032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S3 is only storage; the Glue Data Catalog is what turns those objects into queryable tables.</a:t>
            </a:r>
          </a:p>
        </p:txBody>
      </p:sp>
      <p:sp>
        <p:nvSpPr>
          <p:cNvPr id="40" name="Oval 39"/>
          <p:cNvSpPr/>
          <p:nvPr/>
        </p:nvSpPr>
        <p:spPr>
          <a:xfrm>
            <a:off x="8513064" y="4535424"/>
            <a:ext cx="118872" cy="11887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87384" y="4471416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Apache Iceberg gives the bronze, silver and gold tables schema evolution and snapshot history.</a:t>
            </a:r>
          </a:p>
        </p:txBody>
      </p:sp>
      <p:sp>
        <p:nvSpPr>
          <p:cNvPr id="42" name="Oval 41"/>
          <p:cNvSpPr/>
          <p:nvPr/>
        </p:nvSpPr>
        <p:spPr>
          <a:xfrm>
            <a:off x="8513064" y="5321808"/>
            <a:ext cx="118872" cy="118872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87384" y="525780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0F172A"/>
                </a:solidFill>
                <a:latin typeface="Calibri"/>
              </a:rPr>
              <a:t>IAM policies only — there are no managed identities, so every service's access is written out by hand.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Air Quality &amp; Weather Data Pipeline  —  built three times over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4A"/>
                </a:solidFill>
                <a:latin typeface="Aptos Display"/>
              </a:rPr>
              <a:t>Core Tools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alibri"/>
              </a:rPr>
              <a:t>The layer that stays identical no matter which cloud is underneath.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82296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636776"/>
            <a:ext cx="749808" cy="749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9928" y="15636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7204A"/>
                </a:solidFill>
                <a:latin typeface="Aptos Display"/>
              </a:rPr>
              <a:t>Apache Kafka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1892807"/>
            <a:ext cx="395020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Decouples the OpenWeather producer from the storage consumer, so streaming ingestion works the same against GCS, ADLS Gen2 or S3.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25880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325880"/>
            <a:ext cx="82296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36776"/>
            <a:ext cx="749808" cy="749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43800" y="15636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7204A"/>
                </a:solidFill>
                <a:latin typeface="Aptos Display"/>
              </a:rPr>
              <a:t>dltHub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892807"/>
            <a:ext cx="395020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A declarative ingestion framework that extracts, normalizes and loads the historical API data into the raw layer of whichever lake the project targets.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99232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99232"/>
            <a:ext cx="82296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310127"/>
            <a:ext cx="749808" cy="7498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09928" y="32369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7204A"/>
                </a:solidFill>
                <a:latin typeface="Aptos Display"/>
              </a:rPr>
              <a:t>dbt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3566160"/>
            <a:ext cx="395020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The SQL transformation layer building staging views and analytics marts with tests — repointed at BigQuery, Databricks SQL or Athena by profile alone.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2999232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2999232"/>
            <a:ext cx="82296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10127"/>
            <a:ext cx="749808" cy="7498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43800" y="32369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7204A"/>
                </a:solidFill>
                <a:latin typeface="Aptos Display"/>
              </a:rPr>
              <a:t>Kestra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566160"/>
            <a:ext cx="395020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The workflow orchestrator running the same batch chain on all three clouds: ingest → transform → load → dbt.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72584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672584"/>
            <a:ext cx="82296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983480"/>
            <a:ext cx="749808" cy="7498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09928" y="4910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7204A"/>
                </a:solidFill>
                <a:latin typeface="Aptos Display"/>
              </a:rPr>
              <a:t>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5239512"/>
            <a:ext cx="395020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Every service ships as its own container with Compose, so the pipeline behaves identically on a laptop and against any of the three clouds.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4672584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36792" y="4672584"/>
            <a:ext cx="82296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983480"/>
            <a:ext cx="749808" cy="7498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43800" y="4910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7204A"/>
                </a:solidFill>
                <a:latin typeface="Aptos Display"/>
              </a:rPr>
              <a:t>Streamlit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5239512"/>
            <a:ext cx="395020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The dashboard layer reading the gold marts — the same app, pointed at each cloud's warehouse with only a connection change.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Air Quality &amp; Weather Data Pipeline  —  cloud-agnostic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4A"/>
                </a:solidFill>
                <a:latin typeface="Aptos Display"/>
              </a:rPr>
              <a:t>End-to-End Pipeline on Google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alibri"/>
              </a:rPr>
              <a:t>System architecture  ·  1 of 3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75488"/>
            <a:ext cx="2011680" cy="3122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88720"/>
            <a:ext cx="1118311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8394" y="1307592"/>
            <a:ext cx="11392163" cy="50657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_g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22" y="1417320"/>
            <a:ext cx="11172707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Air Quality &amp; Weather Data Pipeline  —  GCS · BigQuery · 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4A"/>
                </a:solidFill>
                <a:latin typeface="Aptos Display"/>
              </a:rPr>
              <a:t>End-to-End Pipeline on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alibri"/>
              </a:rPr>
              <a:t>System architecture  ·  2 of 3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536" y="402335"/>
            <a:ext cx="512064" cy="5120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88720"/>
            <a:ext cx="11183112" cy="41148"/>
          </a:xfrm>
          <a:prstGeom prst="rect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46322" y="1307592"/>
            <a:ext cx="9496307" cy="50657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_az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050" y="1417320"/>
            <a:ext cx="9276851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Air Quality &amp; Weather Data Pipeline  —  ADLS Gen2 · Databricks · Delta 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4A"/>
                </a:solidFill>
                <a:latin typeface="Aptos Display"/>
              </a:rPr>
              <a:t>End-to-End Lakehouse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alibri"/>
              </a:rPr>
              <a:t>System architecture  ·  3 of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4106" y="420623"/>
            <a:ext cx="684493" cy="475488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402" y="502919"/>
            <a:ext cx="519901" cy="3108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188720"/>
            <a:ext cx="11183112" cy="4114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" y="1523457"/>
            <a:ext cx="11402567" cy="46340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_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33185"/>
            <a:ext cx="11183111" cy="44145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Real-Time Stock Market Data Lakehouse  —  S3 · Glue · Iceberg · Athena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Aptos Display"/>
              </a:rPr>
              <a:t>Demo Videos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6DEFF"/>
                </a:solidFill>
                <a:latin typeface="Calibri"/>
              </a:rPr>
              <a:t>Recorded walkthroughs of each cloud implementation — ingestion, orchestration, warehouse and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One video per cloud. Same pipeline, three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011680"/>
            <a:ext cx="10607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2011680"/>
            <a:ext cx="118872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22576"/>
            <a:ext cx="1417320" cy="2199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219456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GCP Implementation —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→  paste your demo video link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19456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7204A"/>
                </a:solidFill>
                <a:latin typeface="Calibri"/>
              </a:rPr>
              <a:t>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2157984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090672"/>
            <a:ext cx="10607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" y="3090672"/>
            <a:ext cx="118872" cy="841248"/>
          </a:xfrm>
          <a:prstGeom prst="rect">
            <a:avLst/>
          </a:prstGeom>
          <a:solidFill>
            <a:srgbClr val="00A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310128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17520" y="327355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Azure Implementation —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47872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→  paste your demo video link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27355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7204A"/>
                </a:solidFill>
                <a:latin typeface="Calibri"/>
              </a:rPr>
              <a:t>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3236976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7E1"/>
                </a:solidFill>
                <a:latin typeface="Calibri"/>
              </a:rPr>
              <a:t>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169664"/>
            <a:ext cx="10607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4169664"/>
            <a:ext cx="118872" cy="84124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88720" y="4379976"/>
            <a:ext cx="592746" cy="420624"/>
          </a:xfrm>
          <a:prstGeom prst="roundRect">
            <a:avLst>
              <a:gd name="adj" fmla="val 12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6" y="4462272"/>
            <a:ext cx="428154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17520" y="435254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AWS Implementation —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6268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Calibri"/>
              </a:rPr>
              <a:t>→  paste your demo video link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35254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7204A"/>
                </a:solidFill>
                <a:latin typeface="Calibri"/>
              </a:rPr>
              <a:t>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431596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900"/>
                </a:solidFill>
                <a:latin typeface="Calibri"/>
              </a:rPr>
              <a:t>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41324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6DEFF"/>
                </a:solidFill>
                <a:latin typeface="Calibri"/>
              </a:rPr>
              <a:t>Replace each placeholder above with your recorded walkthrough URL.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FD0FF"/>
                </a:solidFill>
                <a:latin typeface="Calibri"/>
              </a:rPr>
              <a:t>Air Quality &amp; Weather Data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FD0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