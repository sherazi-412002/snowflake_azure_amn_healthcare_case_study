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C2CB"/>
                </a:solidFill>
                <a:latin typeface="Segoe UI"/>
              </a:defRPr>
            </a:pPr>
            <a:r>
              <a:t>DATA ENGINEERING • CASE STUDY •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5943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Segoe UI"/>
              </a:defRPr>
            </a:pPr>
            <a:r>
              <a:t>AMN Healthcare</a:t>
            </a:r>
          </a:p>
          <a:p>
            <a:pPr>
              <a:defRPr sz="4000" b="1">
                <a:solidFill>
                  <a:srgbClr val="00C2CB"/>
                </a:solidFill>
                <a:latin typeface="Segoe UI"/>
              </a:defRPr>
            </a:pPr>
            <a:r>
              <a:t>Data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2044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DCE6F5"/>
                </a:solidFill>
                <a:latin typeface="Segoe UI"/>
              </a:defRPr>
            </a:pPr>
            <a:r>
              <a:t>End-to-end cloud data platform automating ingestion, transformation, warehousing, and analytics for healthcare workforce staffing.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120640"/>
            <a:ext cx="2468880" cy="384048"/>
          </a:xfrm>
          <a:prstGeom prst="roundRect">
            <a:avLst/>
          </a:prstGeom>
          <a:solidFill>
            <a:srgbClr val="102C58"/>
          </a:solidFill>
          <a:ln w="12700">
            <a:solidFill>
              <a:srgbClr val="00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☁ Azure Data Factory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5120640"/>
            <a:ext cx="1563624" cy="384048"/>
          </a:xfrm>
          <a:prstGeom prst="roundRect">
            <a:avLst/>
          </a:prstGeom>
          <a:solidFill>
            <a:srgbClr val="102C58"/>
          </a:solidFill>
          <a:ln w="12700">
            <a:solidFill>
              <a:srgbClr val="00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❄ Snowflake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9783" y="5120640"/>
            <a:ext cx="1463040" cy="384048"/>
          </a:xfrm>
          <a:prstGeom prst="roundRect">
            <a:avLst/>
          </a:prstGeom>
          <a:solidFill>
            <a:srgbClr val="102C58"/>
          </a:solidFill>
          <a:ln w="12700">
            <a:solidFill>
              <a:srgbClr val="00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📊 Power BI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9983" y="5120640"/>
            <a:ext cx="1563624" cy="384048"/>
          </a:xfrm>
          <a:prstGeom prst="roundRect">
            <a:avLst/>
          </a:prstGeom>
          <a:solidFill>
            <a:srgbClr val="102C58"/>
          </a:solidFill>
          <a:ln w="12700">
            <a:solidFill>
              <a:srgbClr val="00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🏗 Terraform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30767" y="5120640"/>
            <a:ext cx="1664208" cy="384048"/>
          </a:xfrm>
          <a:prstGeom prst="roundRect">
            <a:avLst/>
          </a:prstGeom>
          <a:solidFill>
            <a:srgbClr val="102C58"/>
          </a:solidFill>
          <a:ln w="12700">
            <a:solidFill>
              <a:srgbClr val="00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⚡ Logic Apps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005840"/>
            <a:ext cx="4754880" cy="777240"/>
          </a:xfrm>
          <a:prstGeom prst="roundRect">
            <a:avLst/>
          </a:prstGeom>
          <a:solidFill>
            <a:srgbClr val="16264E"/>
          </a:solidFill>
          <a:ln w="12700">
            <a:solidFill>
              <a:srgbClr val="2841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850" b="1">
                <a:solidFill>
                  <a:srgbClr val="00C2CB"/>
                </a:solidFill>
                <a:latin typeface="Segoe UI"/>
              </a:defRPr>
            </a:pPr>
            <a:r>
              <a:t>🏥 DOMAIN</a:t>
            </a:r>
          </a:p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Healthcare Workforce Staffing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874519"/>
            <a:ext cx="4754880" cy="777240"/>
          </a:xfrm>
          <a:prstGeom prst="roundRect">
            <a:avLst/>
          </a:prstGeom>
          <a:solidFill>
            <a:srgbClr val="16264E"/>
          </a:solidFill>
          <a:ln w="12700">
            <a:solidFill>
              <a:srgbClr val="2841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850" b="1">
                <a:solidFill>
                  <a:srgbClr val="00C2CB"/>
                </a:solidFill>
                <a:latin typeface="Segoe UI"/>
              </a:defRPr>
            </a:pPr>
            <a:r>
              <a:t>⚡ SLA / LATENCY</a:t>
            </a:r>
          </a:p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1–3 Minute End-to-End Processing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2743200"/>
            <a:ext cx="4754880" cy="777240"/>
          </a:xfrm>
          <a:prstGeom prst="roundRect">
            <a:avLst/>
          </a:prstGeom>
          <a:solidFill>
            <a:srgbClr val="16264E"/>
          </a:solidFill>
          <a:ln w="12700">
            <a:solidFill>
              <a:srgbClr val="2841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850" b="1">
                <a:solidFill>
                  <a:srgbClr val="00C2CB"/>
                </a:solidFill>
                <a:latin typeface="Segoe UI"/>
              </a:defRPr>
            </a:pPr>
            <a:r>
              <a:t>🔄 PIPELINE COVERAGE</a:t>
            </a:r>
          </a:p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12 Automated ADF Pipelines (Full + Incremental)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3611880"/>
            <a:ext cx="4754880" cy="777240"/>
          </a:xfrm>
          <a:prstGeom prst="roundRect">
            <a:avLst/>
          </a:prstGeom>
          <a:solidFill>
            <a:srgbClr val="16264E"/>
          </a:solidFill>
          <a:ln w="12700">
            <a:solidFill>
              <a:srgbClr val="2841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850" b="1">
                <a:solidFill>
                  <a:srgbClr val="00C2CB"/>
                </a:solidFill>
                <a:latin typeface="Segoe UI"/>
              </a:defRPr>
            </a:pPr>
            <a:r>
              <a:t>📈 DATA SCALE</a:t>
            </a:r>
          </a:p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1.1M+ Rows • 5 Objects • 100+ GB/Day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4480560"/>
            <a:ext cx="4754880" cy="777240"/>
          </a:xfrm>
          <a:prstGeom prst="roundRect">
            <a:avLst/>
          </a:prstGeom>
          <a:solidFill>
            <a:srgbClr val="16264E"/>
          </a:solidFill>
          <a:ln w="12700">
            <a:solidFill>
              <a:srgbClr val="2841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850" b="1">
                <a:solidFill>
                  <a:srgbClr val="00C2CB"/>
                </a:solidFill>
                <a:latin typeface="Segoe UI"/>
              </a:defRPr>
            </a:pPr>
            <a:r>
              <a:t>🔒 SECURITY MODEL</a:t>
            </a:r>
          </a:p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RBAC • Owner-Rights Stored Procedures • Key Vault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5349240"/>
            <a:ext cx="4754880" cy="777240"/>
          </a:xfrm>
          <a:prstGeom prst="roundRect">
            <a:avLst/>
          </a:prstGeom>
          <a:solidFill>
            <a:srgbClr val="16264E"/>
          </a:solidFill>
          <a:ln w="12700">
            <a:solidFill>
              <a:srgbClr val="2841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850" b="1">
                <a:solidFill>
                  <a:srgbClr val="00C2CB"/>
                </a:solidFill>
                <a:latin typeface="Segoe UI"/>
              </a:defRPr>
            </a:pPr>
            <a:r>
              <a:t>👤 DEVELOPED BY</a:t>
            </a:r>
          </a:p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Muhammad Sherazi • Data Engineer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00C2CB"/>
                </a:solidFill>
                <a:latin typeface="Segoe UI"/>
              </a:defRPr>
            </a:pPr>
            <a:r>
              <a:t>02 • PROBLEM &amp;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From Fragmented Data to Unified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EF4444"/>
                </a:solidFill>
                <a:latin typeface="Segoe UI"/>
              </a:defRPr>
            </a:pPr>
            <a:r>
              <a:t>⚠️ THE CHALLENGES &amp; BOTTLENECKS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120640" cy="1051560"/>
          </a:xfrm>
          <a:prstGeom prst="roundRect">
            <a:avLst/>
          </a:prstGeom>
          <a:solidFill>
            <a:srgbClr val="231423"/>
          </a:solidFill>
          <a:ln w="12700">
            <a:solidFill>
              <a:srgbClr val="7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❌ Siloed Data Systems</a:t>
            </a:r>
          </a:p>
          <a:p>
            <a:pPr>
              <a:defRPr sz="950">
                <a:solidFill>
                  <a:srgbClr val="DCBEBE"/>
                </a:solidFill>
                <a:latin typeface="Segoe UI"/>
              </a:defRPr>
            </a:pPr>
            <a:r>
              <a:t>HR and hospital data lived in disconnected silos with no single source of truth across workforce demand.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5120640" cy="1051560"/>
          </a:xfrm>
          <a:prstGeom prst="roundRect">
            <a:avLst/>
          </a:prstGeom>
          <a:solidFill>
            <a:srgbClr val="231423"/>
          </a:solidFill>
          <a:ln w="12700">
            <a:solidFill>
              <a:srgbClr val="7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❌ Manual, Error-Prone Workflows</a:t>
            </a:r>
          </a:p>
          <a:p>
            <a:pPr>
              <a:defRPr sz="950">
                <a:solidFill>
                  <a:srgbClr val="DCBEBE"/>
                </a:solidFill>
                <a:latin typeface="Segoe UI"/>
              </a:defRPr>
            </a:pPr>
            <a:r>
              <a:t>Data transfers relied on manual exports and ad-hoc scripts with no orchestration or audit logging.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77639"/>
            <a:ext cx="5120640" cy="1051560"/>
          </a:xfrm>
          <a:prstGeom prst="roundRect">
            <a:avLst/>
          </a:prstGeom>
          <a:solidFill>
            <a:srgbClr val="231423"/>
          </a:solidFill>
          <a:ln w="12700">
            <a:solidFill>
              <a:srgbClr val="7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❌ Slow &amp; Stale Reporting</a:t>
            </a:r>
          </a:p>
          <a:p>
            <a:pPr>
              <a:defRPr sz="950">
                <a:solidFill>
                  <a:srgbClr val="DCBEBE"/>
                </a:solidFill>
                <a:latin typeface="Segoe UI"/>
              </a:defRPr>
            </a:pPr>
            <a:r>
              <a:t>Decision makers relied on stale extracts with hours-long latency; no real-time metrics for fill rates.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5120640" cy="1051560"/>
          </a:xfrm>
          <a:prstGeom prst="roundRect">
            <a:avLst/>
          </a:prstGeom>
          <a:solidFill>
            <a:srgbClr val="231423"/>
          </a:solidFill>
          <a:ln w="12700">
            <a:solidFill>
              <a:srgbClr val="7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❌ No Governance &amp; Security Risk</a:t>
            </a:r>
          </a:p>
          <a:p>
            <a:pPr>
              <a:defRPr sz="950">
                <a:solidFill>
                  <a:srgbClr val="DCBEBE"/>
                </a:solidFill>
                <a:latin typeface="Segoe UI"/>
              </a:defRPr>
            </a:pPr>
            <a:r>
              <a:t>Lack of strict RBAC, exposed PII, and no automated data quality checks or lineage tracking.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32588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2C55E"/>
                </a:solidFill>
                <a:latin typeface="Segoe UI"/>
              </a:defRPr>
            </a:pPr>
            <a:r>
              <a:t>✅ THE IMPLEMENTED SOLUTIONS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691640"/>
            <a:ext cx="5120640" cy="1051560"/>
          </a:xfrm>
          <a:prstGeom prst="roundRect">
            <a:avLst/>
          </a:prstGeom>
          <a:solidFill>
            <a:srgbClr val="16264E"/>
          </a:solidFill>
          <a:ln w="1270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✨ Unified Cloud Lakehouse</a:t>
            </a:r>
          </a:p>
          <a:p>
            <a:pPr>
              <a:defRPr sz="950">
                <a:solidFill>
                  <a:srgbClr val="DCE6F5"/>
                </a:solidFill>
                <a:latin typeface="Segoe UI"/>
              </a:defRPr>
            </a:pPr>
            <a:r>
              <a:t>End-to-end architecture unifying Azure Data Lake Gen2 &amp; Snowflake as an authoritative data hub.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834640"/>
            <a:ext cx="5120640" cy="1051560"/>
          </a:xfrm>
          <a:prstGeom prst="roundRect">
            <a:avLst/>
          </a:prstGeom>
          <a:solidFill>
            <a:srgbClr val="16264E"/>
          </a:solidFill>
          <a:ln w="1270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✨ 12 Automated ADF Pipelines</a:t>
            </a:r>
          </a:p>
          <a:p>
            <a:pPr>
              <a:defRPr sz="950">
                <a:solidFill>
                  <a:srgbClr val="DCE6F5"/>
                </a:solidFill>
                <a:latin typeface="Segoe UI"/>
              </a:defRPr>
            </a:pPr>
            <a:r>
              <a:t>Event-driven &amp; scheduled pipelines with metadata routing, automated validation &amp; Logic App alerts.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977639"/>
            <a:ext cx="5120640" cy="1051560"/>
          </a:xfrm>
          <a:prstGeom prst="roundRect">
            <a:avLst/>
          </a:prstGeom>
          <a:solidFill>
            <a:srgbClr val="16264E"/>
          </a:solidFill>
          <a:ln w="1270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✨ Live Power BI DirectQuery</a:t>
            </a:r>
          </a:p>
          <a:p>
            <a:pPr>
              <a:defRPr sz="950">
                <a:solidFill>
                  <a:srgbClr val="DCE6F5"/>
                </a:solidFill>
                <a:latin typeface="Segoe UI"/>
              </a:defRPr>
            </a:pPr>
            <a:r>
              <a:t>Real-time 4-page dashboard covering Workforce, Recruiting, Staffing, Payroll, and SLAs.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5120640"/>
            <a:ext cx="5120640" cy="1051560"/>
          </a:xfrm>
          <a:prstGeom prst="roundRect">
            <a:avLst/>
          </a:prstGeom>
          <a:solidFill>
            <a:srgbClr val="16264E"/>
          </a:solidFill>
          <a:ln w="1270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✨ Layered RBAC &amp; Key Vault</a:t>
            </a:r>
          </a:p>
          <a:p>
            <a:pPr>
              <a:defRPr sz="950">
                <a:solidFill>
                  <a:srgbClr val="DCE6F5"/>
                </a:solidFill>
                <a:latin typeface="Segoe UI"/>
              </a:defRPr>
            </a:pPr>
            <a:r>
              <a:t>Least-privilege access, owner-rights stored procedures, PII stripped at MARTS layer, and Key Vault secrets.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00C2CB"/>
                </a:solidFill>
                <a:latin typeface="Segoe UI"/>
              </a:defRPr>
            </a:pPr>
            <a:r>
              <a:t>03 •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Tools &amp; Technologies by Function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14600" cy="4846320"/>
          </a:xfrm>
          <a:prstGeom prst="roundRect">
            <a:avLst/>
          </a:prstGeom>
          <a:solidFill>
            <a:srgbClr val="16264E"/>
          </a:solidFill>
          <a:ln w="12700">
            <a:solidFill>
              <a:srgbClr val="2D4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2331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0C2CB"/>
                </a:solidFill>
                <a:latin typeface="Segoe UI"/>
              </a:defRPr>
            </a:pPr>
            <a:r>
              <a:t>INGESTION &amp; ORCHESTRATION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011680"/>
            <a:ext cx="2240280" cy="960120"/>
          </a:xfrm>
          <a:prstGeom prst="roundRect">
            <a:avLst/>
          </a:prstGeom>
          <a:solidFill>
            <a:srgbClr val="1B2E5C"/>
          </a:solidFill>
          <a:ln w="12700">
            <a:solidFill>
              <a:srgbClr val="3C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Azure Data Factory</a:t>
            </a:r>
          </a:p>
          <a:p>
            <a:pPr>
              <a:defRPr sz="850">
                <a:solidFill>
                  <a:srgbClr val="8CA0C3"/>
                </a:solidFill>
                <a:latin typeface="Segoe UI"/>
              </a:defRPr>
            </a:pPr>
            <a:r>
              <a:t>12 Pipelines • Triggers • Datasets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063240"/>
            <a:ext cx="2240280" cy="960120"/>
          </a:xfrm>
          <a:prstGeom prst="roundRect">
            <a:avLst/>
          </a:prstGeom>
          <a:solidFill>
            <a:srgbClr val="1B2E5C"/>
          </a:solidFill>
          <a:ln w="12700">
            <a:solidFill>
              <a:srgbClr val="3C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Event Triggers</a:t>
            </a:r>
          </a:p>
          <a:p>
            <a:pPr>
              <a:defRPr sz="850">
                <a:solidFill>
                  <a:srgbClr val="8CA0C3"/>
                </a:solidFill>
                <a:latin typeface="Segoe UI"/>
              </a:defRPr>
            </a:pPr>
            <a:r>
              <a:t>Storage Event + Schedule Triggers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4114800"/>
            <a:ext cx="2240280" cy="960120"/>
          </a:xfrm>
          <a:prstGeom prst="roundRect">
            <a:avLst/>
          </a:prstGeom>
          <a:solidFill>
            <a:srgbClr val="1B2E5C"/>
          </a:solidFill>
          <a:ln w="12700">
            <a:solidFill>
              <a:srgbClr val="3C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ADF Linked Services</a:t>
            </a:r>
          </a:p>
          <a:p>
            <a:pPr>
              <a:defRPr sz="850">
                <a:solidFill>
                  <a:srgbClr val="8CA0C3"/>
                </a:solidFill>
                <a:latin typeface="Segoe UI"/>
              </a:defRPr>
            </a:pPr>
            <a:r>
              <a:t>Snowflake V2, ADLS, Azure SQL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5166360"/>
            <a:ext cx="2240280" cy="960120"/>
          </a:xfrm>
          <a:prstGeom prst="roundRect">
            <a:avLst/>
          </a:prstGeom>
          <a:solidFill>
            <a:srgbClr val="1B2E5C"/>
          </a:solidFill>
          <a:ln w="12700">
            <a:solidFill>
              <a:srgbClr val="3C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Azure Logic App</a:t>
            </a:r>
          </a:p>
          <a:p>
            <a:pPr>
              <a:defRPr sz="850">
                <a:solidFill>
                  <a:srgbClr val="8CA0C3"/>
                </a:solidFill>
                <a:latin typeface="Segoe UI"/>
              </a:defRPr>
            </a:pPr>
            <a:r>
              <a:t>Automated Gmail Failure Notifications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371600"/>
            <a:ext cx="2514600" cy="4846320"/>
          </a:xfrm>
          <a:prstGeom prst="roundRect">
            <a:avLst/>
          </a:prstGeom>
          <a:solidFill>
            <a:srgbClr val="16264E"/>
          </a:solidFill>
          <a:ln w="12700">
            <a:solidFill>
              <a:srgbClr val="2D4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508760"/>
            <a:ext cx="2331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0C2CB"/>
                </a:solidFill>
                <a:latin typeface="Segoe UI"/>
              </a:defRPr>
            </a:pPr>
            <a:r>
              <a:t>STORAGE &amp; SECURITY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2011680"/>
            <a:ext cx="2240280" cy="960120"/>
          </a:xfrm>
          <a:prstGeom prst="roundRect">
            <a:avLst/>
          </a:prstGeom>
          <a:solidFill>
            <a:srgbClr val="1B2E5C"/>
          </a:solidFill>
          <a:ln w="12700">
            <a:solidFill>
              <a:srgbClr val="3C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ADLS Gen2</a:t>
            </a:r>
          </a:p>
          <a:p>
            <a:pPr>
              <a:defRPr sz="850">
                <a:solidFill>
                  <a:srgbClr val="8CA0C3"/>
                </a:solidFill>
                <a:latin typeface="Segoe UI"/>
              </a:defRPr>
            </a:pPr>
            <a:r>
              <a:t>Landing, Staging &amp; Archive Containers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3063240"/>
            <a:ext cx="2240280" cy="960120"/>
          </a:xfrm>
          <a:prstGeom prst="roundRect">
            <a:avLst/>
          </a:prstGeom>
          <a:solidFill>
            <a:srgbClr val="1B2E5C"/>
          </a:solidFill>
          <a:ln w="12700">
            <a:solidFill>
              <a:srgbClr val="3C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Azure Key Vault</a:t>
            </a:r>
          </a:p>
          <a:p>
            <a:pPr>
              <a:defRPr sz="850">
                <a:solidFill>
                  <a:srgbClr val="8CA0C3"/>
                </a:solidFill>
                <a:latin typeface="Segoe UI"/>
              </a:defRPr>
            </a:pPr>
            <a:r>
              <a:t>Secrets, Connection Strings &amp; URLs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6160" y="4114800"/>
            <a:ext cx="2240280" cy="960120"/>
          </a:xfrm>
          <a:prstGeom prst="roundRect">
            <a:avLst/>
          </a:prstGeom>
          <a:solidFill>
            <a:srgbClr val="1B2E5C"/>
          </a:solidFill>
          <a:ln w="12700">
            <a:solidFill>
              <a:srgbClr val="3C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Azure SQL Database</a:t>
            </a:r>
          </a:p>
          <a:p>
            <a:pPr>
              <a:defRPr sz="850">
                <a:solidFill>
                  <a:srgbClr val="8CA0C3"/>
                </a:solidFill>
                <a:latin typeface="Segoe UI"/>
              </a:defRPr>
            </a:pPr>
            <a:r>
              <a:t>Operational Source System DB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66160" y="5166360"/>
            <a:ext cx="2240280" cy="960120"/>
          </a:xfrm>
          <a:prstGeom prst="roundRect">
            <a:avLst/>
          </a:prstGeom>
          <a:solidFill>
            <a:srgbClr val="1B2E5C"/>
          </a:solidFill>
          <a:ln w="12700">
            <a:solidFill>
              <a:srgbClr val="3C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Log Analytics</a:t>
            </a:r>
          </a:p>
          <a:p>
            <a:pPr>
              <a:defRPr sz="850">
                <a:solidFill>
                  <a:srgbClr val="8CA0C3"/>
                </a:solidFill>
                <a:latin typeface="Segoe UI"/>
              </a:defRPr>
            </a:pPr>
            <a:r>
              <a:t>ADF Diagnostics &amp; KQL Monitoring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371600"/>
            <a:ext cx="2514600" cy="4846320"/>
          </a:xfrm>
          <a:prstGeom prst="roundRect">
            <a:avLst/>
          </a:prstGeom>
          <a:solidFill>
            <a:srgbClr val="16264E"/>
          </a:solidFill>
          <a:ln w="12700">
            <a:solidFill>
              <a:srgbClr val="2D4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508760"/>
            <a:ext cx="2331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0C2CB"/>
                </a:solidFill>
                <a:latin typeface="Segoe UI"/>
              </a:defRPr>
            </a:pPr>
            <a:r>
              <a:t>DATA WAREHOUSE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011680"/>
            <a:ext cx="2240280" cy="960120"/>
          </a:xfrm>
          <a:prstGeom prst="roundRect">
            <a:avLst/>
          </a:prstGeom>
          <a:solidFill>
            <a:srgbClr val="1B2E5C"/>
          </a:solidFill>
          <a:ln w="12700">
            <a:solidFill>
              <a:srgbClr val="3C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Snowflake Cloud</a:t>
            </a:r>
          </a:p>
          <a:p>
            <a:pPr>
              <a:defRPr sz="850">
                <a:solidFill>
                  <a:srgbClr val="8CA0C3"/>
                </a:solidFill>
                <a:latin typeface="Segoe UI"/>
              </a:defRPr>
            </a:pPr>
            <a:r>
              <a:t>RAW → CURATED → MARTS Layers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063240"/>
            <a:ext cx="2240280" cy="960120"/>
          </a:xfrm>
          <a:prstGeom prst="roundRect">
            <a:avLst/>
          </a:prstGeom>
          <a:solidFill>
            <a:srgbClr val="1B2E5C"/>
          </a:solidFill>
          <a:ln w="12700">
            <a:solidFill>
              <a:srgbClr val="3C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Stored Procedures</a:t>
            </a:r>
          </a:p>
          <a:p>
            <a:pPr>
              <a:defRPr sz="850">
                <a:solidFill>
                  <a:srgbClr val="8CA0C3"/>
                </a:solidFill>
                <a:latin typeface="Segoe UI"/>
              </a:defRPr>
            </a:pPr>
            <a:r>
              <a:t>Idempotent Owner-Rights MERGE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4114800"/>
            <a:ext cx="2240280" cy="960120"/>
          </a:xfrm>
          <a:prstGeom prst="roundRect">
            <a:avLst/>
          </a:prstGeom>
          <a:solidFill>
            <a:srgbClr val="1B2E5C"/>
          </a:solidFill>
          <a:ln w="12700">
            <a:solidFill>
              <a:srgbClr val="3C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RBAC Security</a:t>
            </a:r>
          </a:p>
          <a:p>
            <a:pPr>
              <a:defRPr sz="850">
                <a:solidFill>
                  <a:srgbClr val="8CA0C3"/>
                </a:solidFill>
                <a:latin typeface="Segoe UI"/>
              </a:defRPr>
            </a:pPr>
            <a:r>
              <a:t>Ingest / Transform / BI Dedicated Roles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5166360"/>
            <a:ext cx="2240280" cy="960120"/>
          </a:xfrm>
          <a:prstGeom prst="roundRect">
            <a:avLst/>
          </a:prstGeom>
          <a:solidFill>
            <a:srgbClr val="1B2E5C"/>
          </a:solidFill>
          <a:ln w="12700">
            <a:solidFill>
              <a:srgbClr val="3C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Virtual Warehouses</a:t>
            </a:r>
          </a:p>
          <a:p>
            <a:pPr>
              <a:defRPr sz="850">
                <a:solidFill>
                  <a:srgbClr val="8CA0C3"/>
                </a:solidFill>
                <a:latin typeface="Segoe UI"/>
              </a:defRPr>
            </a:pPr>
            <a:r>
              <a:t>3 Sized Compute Units for Isolation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23960" y="1371600"/>
            <a:ext cx="2514600" cy="4846320"/>
          </a:xfrm>
          <a:prstGeom prst="roundRect">
            <a:avLst/>
          </a:prstGeom>
          <a:solidFill>
            <a:srgbClr val="16264E"/>
          </a:solidFill>
          <a:ln w="12700">
            <a:solidFill>
              <a:srgbClr val="2D4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15400" y="1508760"/>
            <a:ext cx="2331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0C2CB"/>
                </a:solidFill>
                <a:latin typeface="Segoe UI"/>
              </a:defRPr>
            </a:pPr>
            <a:r>
              <a:t>ANALYTICS &amp; DEVOPS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20" y="2011680"/>
            <a:ext cx="2240280" cy="960120"/>
          </a:xfrm>
          <a:prstGeom prst="roundRect">
            <a:avLst/>
          </a:prstGeom>
          <a:solidFill>
            <a:srgbClr val="1B2E5C"/>
          </a:solidFill>
          <a:ln w="12700">
            <a:solidFill>
              <a:srgbClr val="3C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Power BI</a:t>
            </a:r>
          </a:p>
          <a:p>
            <a:pPr>
              <a:defRPr sz="850">
                <a:solidFill>
                  <a:srgbClr val="8CA0C3"/>
                </a:solidFill>
                <a:latin typeface="Segoe UI"/>
              </a:defRPr>
            </a:pPr>
            <a:r>
              <a:t>4-Page Live DirectQuery Dashboard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20" y="3063240"/>
            <a:ext cx="2240280" cy="960120"/>
          </a:xfrm>
          <a:prstGeom prst="roundRect">
            <a:avLst/>
          </a:prstGeom>
          <a:solidFill>
            <a:srgbClr val="1B2E5C"/>
          </a:solidFill>
          <a:ln w="12700">
            <a:solidFill>
              <a:srgbClr val="3C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Terraform (IaC)</a:t>
            </a:r>
          </a:p>
          <a:p>
            <a:pPr>
              <a:defRPr sz="850">
                <a:solidFill>
                  <a:srgbClr val="8CA0C3"/>
                </a:solidFill>
                <a:latin typeface="Segoe UI"/>
              </a:defRPr>
            </a:pPr>
            <a:r>
              <a:t>100% Azure Cloud Infrastructure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61120" y="4114800"/>
            <a:ext cx="2240280" cy="960120"/>
          </a:xfrm>
          <a:prstGeom prst="roundRect">
            <a:avLst/>
          </a:prstGeom>
          <a:solidFill>
            <a:srgbClr val="1B2E5C"/>
          </a:solidFill>
          <a:ln w="12700">
            <a:solidFill>
              <a:srgbClr val="3C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Python Data Gen</a:t>
            </a:r>
          </a:p>
          <a:p>
            <a:pPr>
              <a:defRPr sz="850">
                <a:solidFill>
                  <a:srgbClr val="8CA0C3"/>
                </a:solidFill>
                <a:latin typeface="Segoe UI"/>
              </a:defRPr>
            </a:pPr>
            <a:r>
              <a:t>1.1M Row Referential Generator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61120" y="5166360"/>
            <a:ext cx="2240280" cy="960120"/>
          </a:xfrm>
          <a:prstGeom prst="roundRect">
            <a:avLst/>
          </a:prstGeom>
          <a:solidFill>
            <a:srgbClr val="1B2E5C"/>
          </a:solidFill>
          <a:ln w="12700">
            <a:solidFill>
              <a:srgbClr val="3C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Azure Monitor</a:t>
            </a:r>
          </a:p>
          <a:p>
            <a:pPr>
              <a:defRPr sz="850">
                <a:solidFill>
                  <a:srgbClr val="8CA0C3"/>
                </a:solidFill>
                <a:latin typeface="Segoe UI"/>
              </a:defRPr>
            </a:pPr>
            <a:r>
              <a:t>Metric Alerts &amp; Health Dashboards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00C2CB"/>
                </a:solidFill>
                <a:latin typeface="Segoe UI"/>
              </a:defRPr>
            </a:pPr>
            <a:r>
              <a:t>04 • DATA PRODUCTION &amp; VOLUME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How We Source, Generate &amp; Ingest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C2CB"/>
                </a:solidFill>
                <a:latin typeface="Segoe UI"/>
              </a:defRPr>
            </a:pPr>
            <a:r>
              <a:t>📊 SOURCE OBJECTS &amp; VOLUMES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91640"/>
          <a:ext cx="530352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280160"/>
                <a:gridCol w="914400"/>
                <a:gridCol w="1463040"/>
              </a:tblGrid>
              <a:tr h="56007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C2CB"/>
                          </a:solidFill>
                          <a:latin typeface="Segoe UI"/>
                        </a:defRPr>
                      </a:pPr>
                      <a:r>
                        <a:t>Object</a:t>
                      </a:r>
                    </a:p>
                  </a:txBody>
                  <a:tcPr>
                    <a:solidFill>
                      <a:srgbClr val="102C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C2CB"/>
                          </a:solidFill>
                          <a:latin typeface="Segoe UI"/>
                        </a:defRPr>
                      </a:pPr>
                      <a:r>
                        <a:t>Source System</a:t>
                      </a:r>
                    </a:p>
                  </a:txBody>
                  <a:tcPr>
                    <a:solidFill>
                      <a:srgbClr val="102C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C2CB"/>
                          </a:solidFill>
                          <a:latin typeface="Segoe UI"/>
                        </a:defRPr>
                      </a:pPr>
                      <a:r>
                        <a:t>Rows</a:t>
                      </a:r>
                    </a:p>
                  </a:txBody>
                  <a:tcPr>
                    <a:solidFill>
                      <a:srgbClr val="102C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C2CB"/>
                          </a:solidFill>
                          <a:latin typeface="Segoe UI"/>
                        </a:defRPr>
                      </a:pPr>
                      <a:r>
                        <a:t>Load Strategy</a:t>
                      </a:r>
                    </a:p>
                  </a:txBody>
                  <a:tcPr>
                    <a:solidFill>
                      <a:srgbClr val="102C58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Hospitals</a:t>
                      </a:r>
                    </a:p>
                  </a:txBody>
                  <a:tcPr>
                    <a:solidFill>
                      <a:srgbClr val="1B2E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6F5"/>
                          </a:solidFill>
                          <a:latin typeface="Segoe UI"/>
                        </a:defRPr>
                      </a:pPr>
                      <a:r>
                        <a:t>Reference DB</a:t>
                      </a:r>
                    </a:p>
                  </a:txBody>
                  <a:tcPr>
                    <a:solidFill>
                      <a:srgbClr val="1B2E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6F5"/>
                          </a:solidFill>
                          <a:latin typeface="Segoe UI"/>
                        </a:defRPr>
                      </a:pPr>
                      <a:r>
                        <a:t>7,500</a:t>
                      </a:r>
                    </a:p>
                  </a:txBody>
                  <a:tcPr>
                    <a:solidFill>
                      <a:srgbClr val="1B2E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6F5"/>
                          </a:solidFill>
                          <a:latin typeface="Segoe UI"/>
                        </a:defRPr>
                      </a:pPr>
                      <a:r>
                        <a:t>Full Load</a:t>
                      </a:r>
                    </a:p>
                  </a:txBody>
                  <a:tcPr>
                    <a:solidFill>
                      <a:srgbClr val="1B2E5C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Staffing Requests</a:t>
                      </a:r>
                    </a:p>
                  </a:txBody>
                  <a:tcPr>
                    <a:solidFill>
                      <a:srgbClr val="1626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6F5"/>
                          </a:solidFill>
                          <a:latin typeface="Segoe UI"/>
                        </a:defRPr>
                      </a:pPr>
                      <a:r>
                        <a:t>Azure SQL</a:t>
                      </a:r>
                    </a:p>
                  </a:txBody>
                  <a:tcPr>
                    <a:solidFill>
                      <a:srgbClr val="1626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6F5"/>
                          </a:solidFill>
                          <a:latin typeface="Segoe UI"/>
                        </a:defRPr>
                      </a:pPr>
                      <a:r>
                        <a:t>75,000</a:t>
                      </a:r>
                    </a:p>
                  </a:txBody>
                  <a:tcPr>
                    <a:solidFill>
                      <a:srgbClr val="1626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6F5"/>
                          </a:solidFill>
                          <a:latin typeface="Segoe UI"/>
                        </a:defRPr>
                      </a:pPr>
                      <a:r>
                        <a:t>Full + Incremental</a:t>
                      </a:r>
                    </a:p>
                  </a:txBody>
                  <a:tcPr>
                    <a:solidFill>
                      <a:srgbClr val="16264E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Candidates</a:t>
                      </a:r>
                    </a:p>
                  </a:txBody>
                  <a:tcPr>
                    <a:solidFill>
                      <a:srgbClr val="1B2E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6F5"/>
                          </a:solidFill>
                          <a:latin typeface="Segoe UI"/>
                        </a:defRPr>
                      </a:pPr>
                      <a:r>
                        <a:t>Azure SQL (HR)</a:t>
                      </a:r>
                    </a:p>
                  </a:txBody>
                  <a:tcPr>
                    <a:solidFill>
                      <a:srgbClr val="1B2E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6F5"/>
                          </a:solidFill>
                          <a:latin typeface="Segoe UI"/>
                        </a:defRPr>
                      </a:pPr>
                      <a:r>
                        <a:t>150,000</a:t>
                      </a:r>
                    </a:p>
                  </a:txBody>
                  <a:tcPr>
                    <a:solidFill>
                      <a:srgbClr val="1B2E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6F5"/>
                          </a:solidFill>
                          <a:latin typeface="Segoe UI"/>
                        </a:defRPr>
                      </a:pPr>
                      <a:r>
                        <a:t>Full + Incremental</a:t>
                      </a:r>
                    </a:p>
                  </a:txBody>
                  <a:tcPr>
                    <a:solidFill>
                      <a:srgbClr val="1B2E5C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Employees</a:t>
                      </a:r>
                    </a:p>
                  </a:txBody>
                  <a:tcPr>
                    <a:solidFill>
                      <a:srgbClr val="1626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6F5"/>
                          </a:solidFill>
                          <a:latin typeface="Segoe UI"/>
                        </a:defRPr>
                      </a:pPr>
                      <a:r>
                        <a:t>Azure SQL (HR)</a:t>
                      </a:r>
                    </a:p>
                  </a:txBody>
                  <a:tcPr>
                    <a:solidFill>
                      <a:srgbClr val="1626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6F5"/>
                          </a:solidFill>
                          <a:latin typeface="Segoe UI"/>
                        </a:defRPr>
                      </a:pPr>
                      <a:r>
                        <a:t>50,000</a:t>
                      </a:r>
                    </a:p>
                  </a:txBody>
                  <a:tcPr>
                    <a:solidFill>
                      <a:srgbClr val="1626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6F5"/>
                          </a:solidFill>
                          <a:latin typeface="Segoe UI"/>
                        </a:defRPr>
                      </a:pPr>
                      <a:r>
                        <a:t>Full Load</a:t>
                      </a:r>
                    </a:p>
                  </a:txBody>
                  <a:tcPr>
                    <a:solidFill>
                      <a:srgbClr val="16264E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Schedules</a:t>
                      </a:r>
                    </a:p>
                  </a:txBody>
                  <a:tcPr>
                    <a:solidFill>
                      <a:srgbClr val="1B2E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6F5"/>
                          </a:solidFill>
                          <a:latin typeface="Segoe UI"/>
                        </a:defRPr>
                      </a:pPr>
                      <a:r>
                        <a:t>Azure SQL (HR)</a:t>
                      </a:r>
                    </a:p>
                  </a:txBody>
                  <a:tcPr>
                    <a:solidFill>
                      <a:srgbClr val="1B2E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6F5"/>
                          </a:solidFill>
                          <a:latin typeface="Segoe UI"/>
                        </a:defRPr>
                      </a:pPr>
                      <a:r>
                        <a:t>525,000</a:t>
                      </a:r>
                    </a:p>
                  </a:txBody>
                  <a:tcPr>
                    <a:solidFill>
                      <a:srgbClr val="1B2E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6F5"/>
                          </a:solidFill>
                          <a:latin typeface="Segoe UI"/>
                        </a:defRPr>
                      </a:pPr>
                      <a:r>
                        <a:t>Full + Incremental</a:t>
                      </a:r>
                    </a:p>
                  </a:txBody>
                  <a:tcPr>
                    <a:solidFill>
                      <a:srgbClr val="1B2E5C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Payroll</a:t>
                      </a:r>
                    </a:p>
                  </a:txBody>
                  <a:tcPr>
                    <a:solidFill>
                      <a:srgbClr val="1626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6F5"/>
                          </a:solidFill>
                          <a:latin typeface="Segoe UI"/>
                        </a:defRPr>
                      </a:pPr>
                      <a:r>
                        <a:t>Azure SQL (HR)</a:t>
                      </a:r>
                    </a:p>
                  </a:txBody>
                  <a:tcPr>
                    <a:solidFill>
                      <a:srgbClr val="1626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6F5"/>
                          </a:solidFill>
                          <a:latin typeface="Segoe UI"/>
                        </a:defRPr>
                      </a:pPr>
                      <a:r>
                        <a:t>300,000</a:t>
                      </a:r>
                    </a:p>
                  </a:txBody>
                  <a:tcPr>
                    <a:solidFill>
                      <a:srgbClr val="1626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6F5"/>
                          </a:solidFill>
                          <a:latin typeface="Segoe UI"/>
                        </a:defRPr>
                      </a:pPr>
                      <a:r>
                        <a:t>Full + Incremental</a:t>
                      </a:r>
                    </a:p>
                  </a:txBody>
                  <a:tcPr>
                    <a:solidFill>
                      <a:srgbClr val="16264E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TOTAL DATASET</a:t>
                      </a:r>
                    </a:p>
                  </a:txBody>
                  <a:tcPr>
                    <a:solidFill>
                      <a:srgbClr val="1937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All Sources</a:t>
                      </a:r>
                    </a:p>
                  </a:txBody>
                  <a:tcPr>
                    <a:solidFill>
                      <a:srgbClr val="1937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1,107,500+</a:t>
                      </a:r>
                    </a:p>
                  </a:txBody>
                  <a:tcPr>
                    <a:solidFill>
                      <a:srgbClr val="1937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Mixed Architecture</a:t>
                      </a:r>
                    </a:p>
                  </a:txBody>
                  <a:tcPr>
                    <a:solidFill>
                      <a:srgbClr val="19376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309360" y="132588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C2CB"/>
                </a:solidFill>
                <a:latin typeface="Segoe UI"/>
              </a:defRPr>
            </a:pPr>
            <a:r>
              <a:t>⚙️ GENERATION &amp; INGESTION MECHANICS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91640"/>
            <a:ext cx="5120640" cy="1417320"/>
          </a:xfrm>
          <a:prstGeom prst="roundRect">
            <a:avLst/>
          </a:prstGeom>
          <a:solidFill>
            <a:srgbClr val="16264E"/>
          </a:solidFill>
          <a:ln w="12700">
            <a:solidFill>
              <a:srgbClr val="2D4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🐍 Python Synthetic Data Generator</a:t>
            </a:r>
          </a:p>
          <a:p>
            <a:pPr>
              <a:defRPr sz="850">
                <a:solidFill>
                  <a:srgbClr val="DCE6F5"/>
                </a:solidFill>
                <a:latin typeface="Segoe UI"/>
              </a:defRPr>
            </a:pPr>
            <a:r>
              <a:t>• Script: generate_amn_hr_data.py</a:t>
            </a:r>
          </a:p>
          <a:p>
            <a:pPr>
              <a:defRPr sz="850">
                <a:solidFill>
                  <a:srgbClr val="DCE6F5"/>
                </a:solidFill>
                <a:latin typeface="Segoe UI"/>
              </a:defRPr>
            </a:pPr>
            <a:r>
              <a:t>• Referential Integrity: Enforced across Candidate, Hospital &amp; Schedule IDs</a:t>
            </a:r>
          </a:p>
          <a:p>
            <a:pPr>
              <a:defRPr sz="850">
                <a:solidFill>
                  <a:srgbClr val="DCE6F5"/>
                </a:solidFill>
                <a:latin typeface="Segoe UI"/>
              </a:defRPr>
            </a:pPr>
            <a:r>
              <a:t>• Data Volume: 1,107,500+ records generated &amp; validated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227832"/>
            <a:ext cx="5120640" cy="1417320"/>
          </a:xfrm>
          <a:prstGeom prst="roundRect">
            <a:avLst/>
          </a:prstGeom>
          <a:solidFill>
            <a:srgbClr val="16264E"/>
          </a:solidFill>
          <a:ln w="12700">
            <a:solidFill>
              <a:srgbClr val="2D4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🔄 Incremental Load Mechanism (ADF)</a:t>
            </a:r>
          </a:p>
          <a:p>
            <a:pPr>
              <a:defRPr sz="850">
                <a:solidFill>
                  <a:srgbClr val="DCE6F5"/>
                </a:solidFill>
                <a:latin typeface="Segoe UI"/>
              </a:defRPr>
            </a:pPr>
            <a:r>
              <a:t>• Delta Watermark: CONTROL table tracks last extracted updated_at</a:t>
            </a:r>
          </a:p>
          <a:p>
            <a:pPr>
              <a:defRPr sz="850">
                <a:solidFill>
                  <a:srgbClr val="DCE6F5"/>
                </a:solidFill>
                <a:latin typeface="Segoe UI"/>
              </a:defRPr>
            </a:pPr>
            <a:r>
              <a:t>• Trigger Interval: 5-minute scheduled polling for near real-time sync</a:t>
            </a:r>
          </a:p>
          <a:p>
            <a:pPr>
              <a:defRPr sz="850">
                <a:solidFill>
                  <a:srgbClr val="DCE6F5"/>
                </a:solidFill>
                <a:latin typeface="Segoe UI"/>
              </a:defRPr>
            </a:pPr>
            <a:r>
              <a:t>• Merge Strategy: Automated UPSERT via Snowflake Stored Procedures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4764024"/>
            <a:ext cx="5120640" cy="1417320"/>
          </a:xfrm>
          <a:prstGeom prst="roundRect">
            <a:avLst/>
          </a:prstGeom>
          <a:solidFill>
            <a:srgbClr val="16264E"/>
          </a:solidFill>
          <a:ln w="12700">
            <a:solidFill>
              <a:srgbClr val="2D4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📥 Batch / Full Load Routing (ADF)</a:t>
            </a:r>
          </a:p>
          <a:p>
            <a:pPr>
              <a:defRPr sz="850">
                <a:solidFill>
                  <a:srgbClr val="DCE6F5"/>
                </a:solidFill>
                <a:latin typeface="Segoe UI"/>
              </a:defRPr>
            </a:pPr>
            <a:r>
              <a:t>• Trigger Type: Storage Event trigger on ADLS Gen2 file drop</a:t>
            </a:r>
          </a:p>
          <a:p>
            <a:pPr>
              <a:defRPr sz="850">
                <a:solidFill>
                  <a:srgbClr val="DCE6F5"/>
                </a:solidFill>
                <a:latin typeface="Segoe UI"/>
              </a:defRPr>
            </a:pPr>
            <a:r>
              <a:t>• Marker Protocol: AMN_BATCH_READY.json validates file completeness</a:t>
            </a:r>
          </a:p>
          <a:p>
            <a:pPr>
              <a:defRPr sz="850">
                <a:solidFill>
                  <a:srgbClr val="DCE6F5"/>
                </a:solidFill>
                <a:latin typeface="Segoe UI"/>
              </a:defRPr>
            </a:pPr>
            <a:r>
              <a:t>• Audit Logging: Every execution logged to CONTROL.PIPELINE_RUN_LOG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00C2CB"/>
                </a:solidFill>
                <a:latin typeface="Segoe UI"/>
              </a:defRPr>
            </a:pPr>
            <a:r>
              <a:t>05 • DATA TRANSFORMATION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From Raw Files to Business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011680" cy="4754880"/>
          </a:xfrm>
          <a:prstGeom prst="roundRect">
            <a:avLst/>
          </a:prstGeom>
          <a:solidFill>
            <a:srgbClr val="16264E"/>
          </a:solidFill>
          <a:ln w="12700">
            <a:solidFill>
              <a:srgbClr val="2D4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37160"/>
          <a:lstStyle/>
          <a:p>
            <a:pPr algn="ctr">
              <a:defRPr sz="850" b="1">
                <a:solidFill>
                  <a:srgbClr val="00C2CB"/>
                </a:solidFill>
                <a:latin typeface="Segoe UI"/>
              </a:defRPr>
            </a:pPr>
            <a:r>
              <a:t>STEP 01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📥 Ingestion</a:t>
            </a:r>
          </a:p>
          <a:p>
            <a:pPr>
              <a:defRPr sz="800">
                <a:solidFill>
                  <a:srgbClr val="DCE6F5"/>
                </a:solidFill>
                <a:latin typeface="Segoe UI"/>
              </a:defRPr>
            </a:pPr>
            <a:r>
              <a:t>• CSV files land in ADLS Gen2 storage</a:t>
            </a:r>
          </a:p>
          <a:p>
            <a:pPr>
              <a:defRPr sz="800">
                <a:solidFill>
                  <a:srgbClr val="DCE6F5"/>
                </a:solidFill>
                <a:latin typeface="Segoe UI"/>
              </a:defRPr>
            </a:pPr>
            <a:r>
              <a:t>• Storage event trigger fires ADF</a:t>
            </a:r>
          </a:p>
          <a:p>
            <a:pPr>
              <a:defRPr sz="800">
                <a:solidFill>
                  <a:srgbClr val="DCE6F5"/>
                </a:solidFill>
                <a:latin typeface="Segoe UI"/>
              </a:defRPr>
            </a:pPr>
            <a:r>
              <a:t>• Metadata router parses manifest</a:t>
            </a:r>
          </a:p>
          <a:p>
            <a:pPr>
              <a:defRPr sz="800">
                <a:solidFill>
                  <a:srgbClr val="DCE6F5"/>
                </a:solidFill>
                <a:latin typeface="Segoe UI"/>
              </a:defRPr>
            </a:pPr>
            <a:r>
              <a:t>• 12 pipelines dispatch per object</a:t>
            </a:r>
          </a:p>
          <a:p>
            <a:pPr>
              <a:defRPr sz="800">
                <a:solidFill>
                  <a:srgbClr val="DCE6F5"/>
                </a:solidFill>
                <a:latin typeface="Segoe UI"/>
              </a:defRPr>
            </a:pPr>
            <a:r>
              <a:t>• SAS Blob stage for Snowflake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5715000"/>
            <a:ext cx="1737360" cy="320040"/>
          </a:xfrm>
          <a:prstGeom prst="roundRect">
            <a:avLst/>
          </a:prstGeom>
          <a:solidFill>
            <a:srgbClr val="142850"/>
          </a:solidFill>
          <a:ln w="12700">
            <a:solidFill>
              <a:srgbClr val="00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0C2CB"/>
                </a:solidFill>
                <a:latin typeface="Segoe UI"/>
              </a:defRPr>
            </a:pPr>
            <a:r>
              <a:t>LANDING ZONE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24912" y="347472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C2CB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463040"/>
            <a:ext cx="2011680" cy="4754880"/>
          </a:xfrm>
          <a:prstGeom prst="roundRect">
            <a:avLst/>
          </a:prstGeom>
          <a:solidFill>
            <a:srgbClr val="16264E"/>
          </a:solidFill>
          <a:ln w="12700">
            <a:solidFill>
              <a:srgbClr val="2D4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37160"/>
          <a:lstStyle/>
          <a:p>
            <a:pPr algn="ctr">
              <a:defRPr sz="850" b="1">
                <a:solidFill>
                  <a:srgbClr val="00C2CB"/>
                </a:solidFill>
                <a:latin typeface="Segoe UI"/>
              </a:defRPr>
            </a:pPr>
            <a:r>
              <a:t>STEP 02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🗄 RAW Layer</a:t>
            </a:r>
          </a:p>
          <a:p>
            <a:pPr>
              <a:defRPr sz="800">
                <a:solidFill>
                  <a:srgbClr val="DCE6F5"/>
                </a:solidFill>
                <a:latin typeface="Segoe UI"/>
              </a:defRPr>
            </a:pPr>
            <a:r>
              <a:t>• COPY INTO loads to RAW schema</a:t>
            </a:r>
          </a:p>
          <a:p>
            <a:pPr>
              <a:defRPr sz="800">
                <a:solidFill>
                  <a:srgbClr val="DCE6F5"/>
                </a:solidFill>
                <a:latin typeface="Segoe UI"/>
              </a:defRPr>
            </a:pPr>
            <a:r>
              <a:t>• All columns preserved as VARCHAR</a:t>
            </a:r>
          </a:p>
          <a:p>
            <a:pPr>
              <a:defRPr sz="800">
                <a:solidFill>
                  <a:srgbClr val="DCE6F5"/>
                </a:solidFill>
                <a:latin typeface="Segoe UI"/>
              </a:defRPr>
            </a:pPr>
            <a:r>
              <a:t>• _INGESTED_AT timestamp added</a:t>
            </a:r>
          </a:p>
          <a:p>
            <a:pPr>
              <a:defRPr sz="800">
                <a:solidFill>
                  <a:srgbClr val="DCE6F5"/>
                </a:solidFill>
                <a:latin typeface="Segoe UI"/>
              </a:defRPr>
            </a:pPr>
            <a:r>
              <a:t>• CONTROL.PIPELINE_RUN_LOG entry</a:t>
            </a:r>
          </a:p>
          <a:p>
            <a:pPr>
              <a:defRPr sz="800">
                <a:solidFill>
                  <a:srgbClr val="DCE6F5"/>
                </a:solidFill>
                <a:latin typeface="Segoe UI"/>
              </a:defRPr>
            </a:pPr>
            <a:r>
              <a:t>• Malformed data → QUARANTINE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5715000"/>
            <a:ext cx="1737360" cy="320040"/>
          </a:xfrm>
          <a:prstGeom prst="roundRect">
            <a:avLst/>
          </a:prstGeom>
          <a:solidFill>
            <a:srgbClr val="142850"/>
          </a:solidFill>
          <a:ln w="12700">
            <a:solidFill>
              <a:srgbClr val="00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0C2CB"/>
                </a:solidFill>
                <a:latin typeface="Segoe UI"/>
              </a:defRPr>
            </a:pPr>
            <a:r>
              <a:t>APPEND-ONLY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19472" y="347472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C2CB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1463040"/>
            <a:ext cx="2011680" cy="4754880"/>
          </a:xfrm>
          <a:prstGeom prst="roundRect">
            <a:avLst/>
          </a:prstGeom>
          <a:solidFill>
            <a:srgbClr val="16264E"/>
          </a:solidFill>
          <a:ln w="12700">
            <a:solidFill>
              <a:srgbClr val="2D4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37160"/>
          <a:lstStyle/>
          <a:p>
            <a:pPr algn="ctr">
              <a:defRPr sz="850" b="1">
                <a:solidFill>
                  <a:srgbClr val="22C55E"/>
                </a:solidFill>
                <a:latin typeface="Segoe UI"/>
              </a:defRPr>
            </a:pPr>
            <a:r>
              <a:t>STEP 03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✅ CURATED Layer</a:t>
            </a:r>
          </a:p>
          <a:p>
            <a:pPr>
              <a:defRPr sz="800">
                <a:solidFill>
                  <a:srgbClr val="DCE6F5"/>
                </a:solidFill>
                <a:latin typeface="Segoe UI"/>
              </a:defRPr>
            </a:pPr>
            <a:r>
              <a:t>• Owner-rights SPs run MERGE logic</a:t>
            </a:r>
          </a:p>
          <a:p>
            <a:pPr>
              <a:defRPr sz="800">
                <a:solidFill>
                  <a:srgbClr val="DCE6F5"/>
                </a:solidFill>
                <a:latin typeface="Segoe UI"/>
              </a:defRPr>
            </a:pPr>
            <a:r>
              <a:t>• TRY_TO_* type casting &amp; cleaning</a:t>
            </a:r>
          </a:p>
          <a:p>
            <a:pPr>
              <a:defRPr sz="800">
                <a:solidFill>
                  <a:srgbClr val="DCE6F5"/>
                </a:solidFill>
                <a:latin typeface="Segoe UI"/>
              </a:defRPr>
            </a:pPr>
            <a:r>
              <a:t>• Idempotent UPSERT on primary keys</a:t>
            </a:r>
          </a:p>
          <a:p>
            <a:pPr>
              <a:defRPr sz="800">
                <a:solidFill>
                  <a:srgbClr val="DCE6F5"/>
                </a:solidFill>
                <a:latin typeface="Segoe UI"/>
              </a:defRPr>
            </a:pPr>
            <a:r>
              <a:t>• QUALIFY ROW_NUMBER() dedup</a:t>
            </a:r>
          </a:p>
          <a:p>
            <a:pPr>
              <a:defRPr sz="800">
                <a:solidFill>
                  <a:srgbClr val="DCE6F5"/>
                </a:solidFill>
                <a:latin typeface="Segoe UI"/>
              </a:defRPr>
            </a:pPr>
            <a:r>
              <a:t>• Maintains UPDATED_AT history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57800" y="5715000"/>
            <a:ext cx="1737360" cy="320040"/>
          </a:xfrm>
          <a:prstGeom prst="roundRect">
            <a:avLst/>
          </a:prstGeom>
          <a:solidFill>
            <a:srgbClr val="142850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2C55E"/>
                </a:solidFill>
                <a:latin typeface="Segoe UI"/>
              </a:defRPr>
            </a:pPr>
            <a:r>
              <a:t>VALIDATED 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4031" y="347472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C2CB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1463040"/>
            <a:ext cx="2011680" cy="4754880"/>
          </a:xfrm>
          <a:prstGeom prst="roundRect">
            <a:avLst/>
          </a:prstGeom>
          <a:solidFill>
            <a:srgbClr val="16264E"/>
          </a:solidFill>
          <a:ln w="12700">
            <a:solidFill>
              <a:srgbClr val="2D4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37160"/>
          <a:lstStyle/>
          <a:p>
            <a:pPr algn="ctr">
              <a:defRPr sz="850" b="1">
                <a:solidFill>
                  <a:srgbClr val="A855F7"/>
                </a:solidFill>
                <a:latin typeface="Segoe UI"/>
              </a:defRPr>
            </a:pPr>
            <a:r>
              <a:t>STEP 04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📊 MARTS Layer</a:t>
            </a:r>
          </a:p>
          <a:p>
            <a:pPr>
              <a:defRPr sz="800">
                <a:solidFill>
                  <a:srgbClr val="DCE6F5"/>
                </a:solidFill>
                <a:latin typeface="Segoe UI"/>
              </a:defRPr>
            </a:pPr>
            <a:r>
              <a:t>• DIM_* dimension views modeled</a:t>
            </a:r>
          </a:p>
          <a:p>
            <a:pPr>
              <a:defRPr sz="800">
                <a:solidFill>
                  <a:srgbClr val="DCE6F5"/>
                </a:solidFill>
                <a:latin typeface="Segoe UI"/>
              </a:defRPr>
            </a:pPr>
            <a:r>
              <a:t>• FACT_* business metric views</a:t>
            </a:r>
          </a:p>
          <a:p>
            <a:pPr>
              <a:defRPr sz="800">
                <a:solidFill>
                  <a:srgbClr val="DCE6F5"/>
                </a:solidFill>
                <a:latin typeface="Segoe UI"/>
              </a:defRPr>
            </a:pPr>
            <a:r>
              <a:t>• PII removed (email/phone hidden)</a:t>
            </a:r>
          </a:p>
          <a:p>
            <a:pPr>
              <a:defRPr sz="800">
                <a:solidFill>
                  <a:srgbClr val="DCE6F5"/>
                </a:solidFill>
                <a:latin typeface="Segoe UI"/>
              </a:defRPr>
            </a:pPr>
            <a:r>
              <a:t>• Aggregated KPIs for fill rate &amp; cost</a:t>
            </a:r>
          </a:p>
          <a:p>
            <a:pPr>
              <a:defRPr sz="800">
                <a:solidFill>
                  <a:srgbClr val="DCE6F5"/>
                </a:solidFill>
                <a:latin typeface="Segoe UI"/>
              </a:defRPr>
            </a:pPr>
            <a:r>
              <a:t>• AMN_BI_ROLE: SELECT-only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5715000"/>
            <a:ext cx="1737360" cy="320040"/>
          </a:xfrm>
          <a:prstGeom prst="roundRect">
            <a:avLst/>
          </a:prstGeom>
          <a:solidFill>
            <a:srgbClr val="142850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A855F7"/>
                </a:solidFill>
                <a:latin typeface="Segoe UI"/>
              </a:defRPr>
            </a:pPr>
            <a:r>
              <a:t>BUSINESS-READY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08592" y="347472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C2CB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09760" y="1463040"/>
            <a:ext cx="2011680" cy="4754880"/>
          </a:xfrm>
          <a:prstGeom prst="roundRect">
            <a:avLst/>
          </a:prstGeom>
          <a:solidFill>
            <a:srgbClr val="16264E"/>
          </a:solidFill>
          <a:ln w="12700">
            <a:solidFill>
              <a:srgbClr val="2D4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37160"/>
          <a:lstStyle/>
          <a:p>
            <a:pPr algn="ctr">
              <a:defRPr sz="850" b="1">
                <a:solidFill>
                  <a:srgbClr val="F59E0B"/>
                </a:solidFill>
                <a:latin typeface="Segoe UI"/>
              </a:defRPr>
            </a:pPr>
            <a:r>
              <a:t>STEP 05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📈 Power BI</a:t>
            </a:r>
          </a:p>
          <a:p>
            <a:pPr>
              <a:defRPr sz="800">
                <a:solidFill>
                  <a:srgbClr val="DCE6F5"/>
                </a:solidFill>
                <a:latin typeface="Segoe UI"/>
              </a:defRPr>
            </a:pPr>
            <a:r>
              <a:t>• DirectQuery live connection</a:t>
            </a:r>
          </a:p>
          <a:p>
            <a:pPr>
              <a:defRPr sz="800">
                <a:solidFill>
                  <a:srgbClr val="DCE6F5"/>
                </a:solidFill>
                <a:latin typeface="Segoe UI"/>
              </a:defRPr>
            </a:pPr>
            <a:r>
              <a:t>• 4 pages: Staff, Recruit, Pay, SLA</a:t>
            </a:r>
          </a:p>
          <a:p>
            <a:pPr>
              <a:defRPr sz="800">
                <a:solidFill>
                  <a:srgbClr val="DCE6F5"/>
                </a:solidFill>
                <a:latin typeface="Segoe UI"/>
              </a:defRPr>
            </a:pPr>
            <a:r>
              <a:t>• DAX measures for fill rate &amp; time</a:t>
            </a:r>
          </a:p>
          <a:p>
            <a:pPr>
              <a:defRPr sz="800">
                <a:solidFill>
                  <a:srgbClr val="DCE6F5"/>
                </a:solidFill>
                <a:latin typeface="Segoe UI"/>
              </a:defRPr>
            </a:pPr>
            <a:r>
              <a:t>• Logic App email alerting on error</a:t>
            </a:r>
          </a:p>
          <a:p>
            <a:pPr>
              <a:defRPr sz="800">
                <a:solidFill>
                  <a:srgbClr val="DCE6F5"/>
                </a:solidFill>
                <a:latin typeface="Segoe UI"/>
              </a:defRPr>
            </a:pPr>
            <a:r>
              <a:t>• Azure Monitor SLA telemetry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46920" y="5715000"/>
            <a:ext cx="1737360" cy="320040"/>
          </a:xfrm>
          <a:prstGeom prst="roundRect">
            <a:avLst/>
          </a:prstGeom>
          <a:solidFill>
            <a:srgbClr val="14285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59E0B"/>
                </a:solidFill>
                <a:latin typeface="Segoe UI"/>
              </a:defRPr>
            </a:pPr>
            <a:r>
              <a:t>EXECUTIVE VIZ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00C2CB"/>
                </a:solidFill>
                <a:latin typeface="Segoe UI"/>
              </a:defRPr>
            </a:pPr>
            <a:r>
              <a:t>06 •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End-to-End Architecture &amp; Core Design Principles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669280" cy="822960"/>
          </a:xfrm>
          <a:prstGeom prst="roundRect">
            <a:avLst/>
          </a:prstGeom>
          <a:solidFill>
            <a:srgbClr val="16264E"/>
          </a:solidFill>
          <a:ln w="19050">
            <a:solidFill>
              <a:srgbClr val="00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/>
          <a:lstStyle/>
          <a:p>
            <a:pPr algn="ctr">
              <a:defRPr sz="1000" b="1">
                <a:solidFill>
                  <a:srgbClr val="00C2CB"/>
                </a:solidFill>
                <a:latin typeface="Segoe UI"/>
              </a:defRPr>
            </a:pPr>
            <a:r>
              <a:t>1. SOURCE SYSTEMS</a:t>
            </a:r>
          </a:p>
          <a:p>
            <a:pPr>
              <a:defRPr sz="850">
                <a:solidFill>
                  <a:srgbClr val="DCE6F5"/>
                </a:solidFill>
                <a:latin typeface="Segoe UI"/>
              </a:defRPr>
            </a:pPr>
            <a:r>
              <a:t>Azure SQL (HR Candidates, Schedules, Payroll) + Hospital Demand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222199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0C2CB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5669280" cy="822960"/>
          </a:xfrm>
          <a:prstGeom prst="roundRect">
            <a:avLst/>
          </a:prstGeom>
          <a:solidFill>
            <a:srgbClr val="16264E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/>
          <a:lstStyle/>
          <a:p>
            <a:pPr algn="ctr">
              <a:defRPr sz="1000" b="1">
                <a:solidFill>
                  <a:srgbClr val="2196F3"/>
                </a:solidFill>
                <a:latin typeface="Segoe UI"/>
              </a:defRPr>
            </a:pPr>
            <a:r>
              <a:t>2. STORAGE &amp; SECRETS</a:t>
            </a:r>
          </a:p>
          <a:p>
            <a:pPr>
              <a:defRPr sz="850">
                <a:solidFill>
                  <a:srgbClr val="DCE6F5"/>
                </a:solidFill>
                <a:latin typeface="Segoe UI"/>
              </a:defRPr>
            </a:pPr>
            <a:r>
              <a:t>ADLS Gen2 (Landing, Checkpoint, Staging) + Azure Key Vault (Credentials &amp; URLs)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318211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0C2CB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37560"/>
            <a:ext cx="5669280" cy="822960"/>
          </a:xfrm>
          <a:prstGeom prst="roundRect">
            <a:avLst/>
          </a:prstGeom>
          <a:solidFill>
            <a:srgbClr val="16264E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/>
          <a:lstStyle/>
          <a:p>
            <a:pPr algn="ctr">
              <a:defRPr sz="1000" b="1">
                <a:solidFill>
                  <a:srgbClr val="FF8C00"/>
                </a:solidFill>
                <a:latin typeface="Segoe UI"/>
              </a:defRPr>
            </a:pPr>
            <a:r>
              <a:t>3. ORCHESTRATION</a:t>
            </a:r>
          </a:p>
          <a:p>
            <a:pPr>
              <a:defRPr sz="850">
                <a:solidFill>
                  <a:srgbClr val="DCE6F5"/>
                </a:solidFill>
                <a:latin typeface="Segoe UI"/>
              </a:defRPr>
            </a:pPr>
            <a:r>
              <a:t>Azure Data Factory (12 Pipelines • Metadata Routing • Logic App Gmail Alerts)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414223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0C2CB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97680"/>
            <a:ext cx="5669280" cy="822960"/>
          </a:xfrm>
          <a:prstGeom prst="roundRect">
            <a:avLst/>
          </a:prstGeom>
          <a:solidFill>
            <a:srgbClr val="16264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/>
          <a:lstStyle/>
          <a:p>
            <a:pPr algn="ctr">
              <a:defRPr sz="1000" b="1">
                <a:solidFill>
                  <a:srgbClr val="A855F7"/>
                </a:solidFill>
                <a:latin typeface="Segoe UI"/>
              </a:defRPr>
            </a:pPr>
            <a:r>
              <a:t>4. DATA WAREHOUSE</a:t>
            </a:r>
          </a:p>
          <a:p>
            <a:pPr>
              <a:defRPr sz="850">
                <a:solidFill>
                  <a:srgbClr val="DCE6F5"/>
                </a:solidFill>
                <a:latin typeface="Segoe UI"/>
              </a:defRPr>
            </a:pPr>
            <a:r>
              <a:t>Snowflake (RAW Ingest → CURATED Owner-Rights MERGE → MARTS PII-Stripped Views)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510235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0C2CB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57800"/>
            <a:ext cx="5669280" cy="822960"/>
          </a:xfrm>
          <a:prstGeom prst="roundRect">
            <a:avLst/>
          </a:prstGeom>
          <a:solidFill>
            <a:srgbClr val="16264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/>
          <a:lstStyle/>
          <a:p>
            <a:pPr algn="ctr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5. SERVING &amp; ANALYTICS</a:t>
            </a:r>
          </a:p>
          <a:p>
            <a:pPr>
              <a:defRPr sz="850">
                <a:solidFill>
                  <a:srgbClr val="DCE6F5"/>
                </a:solidFill>
                <a:latin typeface="Segoe UI"/>
              </a:defRPr>
            </a:pPr>
            <a:r>
              <a:t>Power BI DirectQuery (4-Page Executive Dashboard • SLAs • Metrics)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32588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C2CB"/>
                </a:solidFill>
                <a:latin typeface="Segoe UI"/>
              </a:defRPr>
            </a:pPr>
            <a:r>
              <a:t>🛡️ CORE DESIGN PRINCIPLES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1691640"/>
            <a:ext cx="4754880" cy="841248"/>
          </a:xfrm>
          <a:prstGeom prst="roundRect">
            <a:avLst/>
          </a:prstGeom>
          <a:solidFill>
            <a:srgbClr val="16264E"/>
          </a:solidFill>
          <a:ln w="12700">
            <a:solidFill>
              <a:srgbClr val="2D4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🔒 Security by Default</a:t>
            </a:r>
          </a:p>
          <a:p>
            <a:pPr>
              <a:defRPr sz="850">
                <a:solidFill>
                  <a:srgbClr val="DCE6F5"/>
                </a:solidFill>
                <a:latin typeface="Segoe UI"/>
              </a:defRPr>
            </a:pPr>
            <a:r>
              <a:t>Role-Based Access Control (RBAC), owner-rights stored procedures, Key Vault secret isolation, and PII stripped from MARTS views.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2624328"/>
            <a:ext cx="4754880" cy="841248"/>
          </a:xfrm>
          <a:prstGeom prst="roundRect">
            <a:avLst/>
          </a:prstGeom>
          <a:solidFill>
            <a:srgbClr val="16264E"/>
          </a:solidFill>
          <a:ln w="12700">
            <a:solidFill>
              <a:srgbClr val="2D4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🔁 Guaranteed Idempotency</a:t>
            </a:r>
          </a:p>
          <a:p>
            <a:pPr>
              <a:defRPr sz="850">
                <a:solidFill>
                  <a:srgbClr val="DCE6F5"/>
                </a:solidFill>
                <a:latin typeface="Segoe UI"/>
              </a:defRPr>
            </a:pPr>
            <a:r>
              <a:t>Every pipeline and MERGE execution is safe to re-run without duplicate entries; deduplication via QUALIFY ROW_NUMBER().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557016"/>
            <a:ext cx="4754880" cy="841248"/>
          </a:xfrm>
          <a:prstGeom prst="roundRect">
            <a:avLst/>
          </a:prstGeom>
          <a:solidFill>
            <a:srgbClr val="16264E"/>
          </a:solidFill>
          <a:ln w="12700">
            <a:solidFill>
              <a:srgbClr val="2D4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📋 Complete Audit Trail</a:t>
            </a:r>
          </a:p>
          <a:p>
            <a:pPr>
              <a:defRPr sz="850">
                <a:solidFill>
                  <a:srgbClr val="DCE6F5"/>
                </a:solidFill>
                <a:latin typeface="Segoe UI"/>
              </a:defRPr>
            </a:pPr>
            <a:r>
              <a:t>All pipeline runs log execution start/end, row counts, duration, and status to CONTROL.PIPELINE_RUN_LOG.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4489704"/>
            <a:ext cx="4754880" cy="841248"/>
          </a:xfrm>
          <a:prstGeom prst="roundRect">
            <a:avLst/>
          </a:prstGeom>
          <a:solidFill>
            <a:srgbClr val="16264E"/>
          </a:solidFill>
          <a:ln w="12700">
            <a:solidFill>
              <a:srgbClr val="2D4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⚡ Real-Time Alerting</a:t>
            </a:r>
          </a:p>
          <a:p>
            <a:pPr>
              <a:defRPr sz="850">
                <a:solidFill>
                  <a:srgbClr val="DCE6F5"/>
                </a:solidFill>
                <a:latin typeface="Segoe UI"/>
              </a:defRPr>
            </a:pPr>
            <a:r>
              <a:t>Automated Azure Logic App triggers instant Gmail alerts with failure run IDs within seconds of any pipeline error.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5422392"/>
            <a:ext cx="4754880" cy="841248"/>
          </a:xfrm>
          <a:prstGeom prst="roundRect">
            <a:avLst/>
          </a:prstGeom>
          <a:solidFill>
            <a:srgbClr val="16264E"/>
          </a:solidFill>
          <a:ln w="12700">
            <a:solidFill>
              <a:srgbClr val="2D4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🏗 Infrastructure as Code</a:t>
            </a:r>
          </a:p>
          <a:p>
            <a:pPr>
              <a:defRPr sz="850">
                <a:solidFill>
                  <a:srgbClr val="DCE6F5"/>
                </a:solidFill>
                <a:latin typeface="Segoe UI"/>
              </a:defRPr>
            </a:pPr>
            <a:r>
              <a:t>100% of Azure cloud infrastructure provisioned via Terraform modules and parameterized ARM templates.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