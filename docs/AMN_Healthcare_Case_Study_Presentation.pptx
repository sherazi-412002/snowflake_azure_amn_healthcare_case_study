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1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8" userDrawn="1">
          <p15:clr>
            <a:srgbClr val="A4A3A4"/>
          </p15:clr>
        </p15:guide>
        <p15:guide id="2" pos="2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98"/>
        <p:guide pos="28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openxmlformats.org/officeDocument/2006/relationships/image" Target="../media/image6.webp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840480"/>
            <a:ext cx="6217920" cy="6217920"/>
          </a:xfrm>
          <a:prstGeom prst="ellipse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480560"/>
            <a:ext cx="4937760" cy="4937760"/>
          </a:xfrm>
          <a:prstGeom prst="ellipse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645920" y="-1645920"/>
            <a:ext cx="2926080" cy="2926080"/>
          </a:xfrm>
          <a:prstGeom prst="ellipse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3904" y="640080"/>
            <a:ext cx="4572000" cy="347472"/>
          </a:xfrm>
          <a:prstGeom prst="roundRect">
            <a:avLst/>
          </a:prstGeom>
          <a:solidFill>
            <a:srgbClr val="142644"/>
          </a:solidFill>
          <a:ln w="1270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C2CB"/>
                </a:solidFill>
                <a:latin typeface="Segoe UI" panose="020B0502040204020203"/>
              </a:defRPr>
            </a:pPr>
            <a:r>
              <a:t>DATA ENGINEERING CASE STUDY •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103601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AMN Healthcare </a:t>
            </a:r>
            <a:r>
              <a:rPr sz="4000" b="1">
                <a:solidFill>
                  <a:srgbClr val="00C2CB"/>
                </a:solidFill>
                <a:latin typeface="Segoe UI" panose="020B0502040204020203"/>
              </a:rPr>
              <a:t>Data Platform</a:t>
            </a:r>
            <a:endParaRPr sz="4000" b="1">
              <a:solidFill>
                <a:srgbClr val="00C2CB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92628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>
                <a:solidFill>
                  <a:srgbClr val="CBD5E1"/>
                </a:solidFill>
                <a:latin typeface="Segoe UI" panose="020B0502040204020203"/>
              </a:defRPr>
            </a:pPr>
            <a:r>
              <a:t>End-to-end enterprise lakehouse automating ingestion, validation, warehousing, and real-time analytics for healthcare workforce staffing.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834640"/>
            <a:ext cx="23774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00C2CB"/>
                </a:solidFill>
                <a:latin typeface="Segoe UI" panose="020B0502040204020203"/>
              </a:defRPr>
            </a:pPr>
            <a:r>
              <a:rPr sz="1200"/>
              <a:t>1–3 Min SLA</a:t>
            </a:r>
            <a:endParaRPr sz="1200"/>
          </a:p>
          <a:p>
            <a:pPr algn="ctr">
              <a:defRPr sz="850">
                <a:solidFill>
                  <a:srgbClr val="CBD5E1"/>
                </a:solidFill>
                <a:latin typeface="Segoe UI" panose="020B0502040204020203"/>
              </a:defRPr>
            </a:pPr>
            <a:r>
              <a:rPr sz="1200"/>
              <a:t>Near Real-Time Processing</a:t>
            </a:r>
            <a:endParaRPr sz="1200"/>
          </a:p>
        </p:txBody>
      </p:sp>
      <p:sp>
        <p:nvSpPr>
          <p:cNvPr id="10" name="Rounded Rectangle 9"/>
          <p:cNvSpPr/>
          <p:nvPr/>
        </p:nvSpPr>
        <p:spPr>
          <a:xfrm>
            <a:off x="3621024" y="2834640"/>
            <a:ext cx="23774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00C2CB"/>
                </a:solidFill>
                <a:latin typeface="Segoe UI" panose="020B0502040204020203"/>
              </a:defRPr>
            </a:pPr>
            <a:r>
              <a:rPr sz="1200"/>
              <a:t> 1.1M+ Rows</a:t>
            </a:r>
            <a:endParaRPr sz="1200"/>
          </a:p>
          <a:p>
            <a:pPr algn="ctr">
              <a:defRPr sz="850">
                <a:solidFill>
                  <a:srgbClr val="CBD5E1"/>
                </a:solidFill>
                <a:latin typeface="Segoe UI" panose="020B0502040204020203"/>
              </a:defRPr>
            </a:pPr>
            <a:r>
              <a:rPr sz="1200"/>
              <a:t>6 Multi-Source Entities</a:t>
            </a:r>
            <a:endParaRPr sz="1200"/>
          </a:p>
        </p:txBody>
      </p:sp>
      <p:sp>
        <p:nvSpPr>
          <p:cNvPr id="11" name="Rounded Rectangle 10"/>
          <p:cNvSpPr/>
          <p:nvPr/>
        </p:nvSpPr>
        <p:spPr>
          <a:xfrm>
            <a:off x="6281928" y="2834640"/>
            <a:ext cx="23774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00C2CB"/>
                </a:solidFill>
                <a:latin typeface="Segoe UI" panose="020B0502040204020203"/>
              </a:defRPr>
            </a:pPr>
            <a:r>
              <a:rPr sz="1200"/>
              <a:t>12 Pipelines</a:t>
            </a:r>
            <a:endParaRPr sz="1200"/>
          </a:p>
          <a:p>
            <a:pPr algn="ctr">
              <a:defRPr sz="850">
                <a:solidFill>
                  <a:srgbClr val="CBD5E1"/>
                </a:solidFill>
                <a:latin typeface="Segoe UI" panose="020B0502040204020203"/>
              </a:defRPr>
            </a:pPr>
            <a:r>
              <a:rPr sz="1200"/>
              <a:t>Event + Watermark Sync</a:t>
            </a:r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8942832" y="2834640"/>
            <a:ext cx="23774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00C2CB"/>
                </a:solidFill>
                <a:latin typeface="Segoe UI" panose="020B0502040204020203"/>
              </a:defRPr>
            </a:pPr>
            <a:r>
              <a:rPr sz="1200"/>
              <a:t> Zero-Trust RBAC</a:t>
            </a:r>
            <a:endParaRPr sz="1200"/>
          </a:p>
          <a:p>
            <a:pPr algn="ctr">
              <a:defRPr sz="850">
                <a:solidFill>
                  <a:srgbClr val="CBD5E1"/>
                </a:solidFill>
                <a:latin typeface="Segoe UI" panose="020B0502040204020203"/>
              </a:defRPr>
            </a:pPr>
            <a:r>
              <a:rPr sz="1200"/>
              <a:t>Key Vault &amp; PII Masking</a:t>
            </a:r>
            <a:endParaRPr sz="1200"/>
          </a:p>
        </p:txBody>
      </p:sp>
      <p:sp>
        <p:nvSpPr>
          <p:cNvPr id="13" name="Rounded Rectangle 12"/>
          <p:cNvSpPr/>
          <p:nvPr/>
        </p:nvSpPr>
        <p:spPr>
          <a:xfrm>
            <a:off x="777240" y="3977640"/>
            <a:ext cx="3061335" cy="10756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3590" y="4116705"/>
            <a:ext cx="76200" cy="77343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715" y="4236085"/>
            <a:ext cx="2194560" cy="4806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 panose="020B0502040204020203"/>
              </a:defRPr>
            </a:pPr>
            <a:r>
              <a:rPr>
                <a:sym typeface="+mn-ea"/>
              </a:rPr>
              <a:t>Microsoft Azure</a:t>
            </a:r>
            <a:endParaRPr>
              <a:sym typeface="+mn-ea"/>
            </a:endParaRPr>
          </a:p>
          <a:p>
            <a:pPr>
              <a:defRPr sz="950">
                <a:solidFill>
                  <a:srgbClr val="5A6A85"/>
                </a:solidFill>
                <a:latin typeface="Segoe UI" panose="020B0502040204020203"/>
              </a:defRPr>
            </a:pPr>
            <a:r>
              <a:rPr sz="1000"/>
              <a:t>ADF Ingestion · ADLS Gen2 · Logic Apps Alerts</a:t>
            </a:r>
            <a:endParaRPr sz="1000"/>
          </a:p>
        </p:txBody>
      </p:sp>
      <p:sp>
        <p:nvSpPr>
          <p:cNvPr id="17" name="Rounded Rectangle 16"/>
          <p:cNvSpPr/>
          <p:nvPr/>
        </p:nvSpPr>
        <p:spPr>
          <a:xfrm>
            <a:off x="4471670" y="3977640"/>
            <a:ext cx="3204845" cy="10756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6275" y="4145915"/>
            <a:ext cx="76200" cy="7594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1231" y="4236084"/>
            <a:ext cx="219456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 panose="020B0502040204020203"/>
              </a:defRPr>
            </a:pPr>
            <a:r>
              <a:t>Snowflake Data Warehouse</a:t>
            </a:r>
          </a:p>
          <a:p>
            <a:pPr>
              <a:defRPr sz="950">
                <a:solidFill>
                  <a:srgbClr val="5A6A85"/>
                </a:solidFill>
                <a:latin typeface="Segoe UI" panose="020B0502040204020203"/>
              </a:defRPr>
            </a:pPr>
            <a:r>
              <a:rPr sz="900"/>
              <a:t>RAW → CURATED → MARTS ·</a:t>
            </a:r>
            <a:endParaRPr sz="900"/>
          </a:p>
          <a:p>
            <a:pPr>
              <a:defRPr sz="950">
                <a:solidFill>
                  <a:srgbClr val="5A6A85"/>
                </a:solidFill>
                <a:latin typeface="Segoe UI" panose="020B0502040204020203"/>
              </a:defRPr>
            </a:pPr>
            <a:r>
              <a:rPr sz="900"/>
              <a:t> Owner-Rights SPs</a:t>
            </a:r>
            <a:endParaRPr sz="900"/>
          </a:p>
        </p:txBody>
      </p:sp>
      <p:sp>
        <p:nvSpPr>
          <p:cNvPr id="21" name="Rounded Rectangle 20"/>
          <p:cNvSpPr/>
          <p:nvPr/>
        </p:nvSpPr>
        <p:spPr>
          <a:xfrm>
            <a:off x="8165465" y="3977640"/>
            <a:ext cx="3152140" cy="10953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1815" y="4114800"/>
            <a:ext cx="76200" cy="734695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owerb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4169410"/>
            <a:ext cx="640080" cy="640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9255" y="4255135"/>
            <a:ext cx="2194560" cy="5937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 panose="020B0502040204020203"/>
              </a:defRPr>
            </a:pPr>
            <a:r>
              <a:t>Power BI DirectQuery</a:t>
            </a:r>
          </a:p>
          <a:p>
            <a:pPr>
              <a:defRPr sz="950">
                <a:solidFill>
                  <a:srgbClr val="5A6A85"/>
                </a:solidFill>
                <a:latin typeface="Segoe UI" panose="020B0502040204020203"/>
              </a:defRPr>
            </a:pPr>
            <a:r>
              <a:rPr sz="900"/>
              <a:t>4-Page Live Executive Analytics · Zero Staging</a:t>
            </a:r>
            <a:endParaRPr sz="900"/>
          </a:p>
        </p:txBody>
      </p:sp>
      <p:sp>
        <p:nvSpPr>
          <p:cNvPr id="25" name="TextBox 24"/>
          <p:cNvSpPr txBox="1"/>
          <p:nvPr/>
        </p:nvSpPr>
        <p:spPr>
          <a:xfrm>
            <a:off x="914400" y="6080760"/>
            <a:ext cx="10360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BD5E1"/>
                </a:solidFill>
                <a:latin typeface="Segoe UI" panose="020B0502040204020203"/>
              </a:defRPr>
            </a:pPr>
            <a:r>
              <a:t>PRESENTED BY SYED SHOAIB SHERAZI  •  DATA ENGINEER</a:t>
            </a:r>
          </a:p>
        </p:txBody>
      </p:sp>
      <p:pic>
        <p:nvPicPr>
          <p:cNvPr id="26" name="Picture 2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4114800"/>
            <a:ext cx="601980" cy="601980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3"/>
          <a:stretch>
            <a:fillRect/>
          </a:stretch>
        </p:blipFill>
        <p:spPr>
          <a:xfrm>
            <a:off x="4486275" y="4169410"/>
            <a:ext cx="1044575" cy="547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36195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Problem Overview and Solution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A6A85"/>
                </a:solidFill>
                <a:latin typeface="Segoe UI" panose="020B0502040204020203"/>
              </a:defRPr>
            </a:pPr>
            <a:r>
              <a:t>Why this project exists, and how the modern data platform solves healthcare staffing bottlenecks.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61745"/>
            <a:ext cx="5349240" cy="468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4800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 panose="020B0502040204020203"/>
              </a:defRPr>
            </a:pPr>
            <a:r>
              <a:t>THE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40279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 panose="020B0502040204020203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94560"/>
            <a:ext cx="43891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200"/>
              <a:t>Siloed Healthcare &amp; Staffing Feeds</a:t>
            </a:r>
            <a:endParaRPr sz="1200"/>
          </a:p>
          <a:p>
            <a:pPr>
              <a:defRPr sz="90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HR systems, candidate applications, and hospital demand lived in isolated silos, preventing unified staffing demand forecasting.</a:t>
            </a:r>
            <a:endParaRPr sz="1200"/>
          </a:p>
        </p:txBody>
      </p:sp>
      <p:sp>
        <p:nvSpPr>
          <p:cNvPr id="10" name="Oval 9"/>
          <p:cNvSpPr/>
          <p:nvPr/>
        </p:nvSpPr>
        <p:spPr>
          <a:xfrm>
            <a:off x="777240" y="3125469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 panose="020B0502040204020203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56255"/>
            <a:ext cx="4389120" cy="7346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200"/>
              <a:t>Fragile &amp; Unmonitored Pipelines</a:t>
            </a:r>
            <a:endParaRPr sz="1200"/>
          </a:p>
          <a:p>
            <a:pPr>
              <a:defRPr sz="90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Data movement relied on manual exports with zero automated retry policies, missing audit trails, and no pipeline failure detection.</a:t>
            </a:r>
            <a:endParaRPr sz="1200"/>
          </a:p>
        </p:txBody>
      </p:sp>
      <p:sp>
        <p:nvSpPr>
          <p:cNvPr id="12" name="Oval 11"/>
          <p:cNvSpPr/>
          <p:nvPr/>
        </p:nvSpPr>
        <p:spPr>
          <a:xfrm>
            <a:off x="777240" y="4915534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 panose="020B0502040204020203"/>
              </a:defRPr>
            </a:pPr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41874"/>
            <a:ext cx="43891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200"/>
              <a:t>Stale Reports &amp; High Latency</a:t>
            </a:r>
            <a:endParaRPr sz="1200"/>
          </a:p>
          <a:p>
            <a:pPr>
              <a:defRPr sz="90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Analytics suffered from multi-hour latency with no live visibility into critical placement fill rates, overtime spend, or SLA breaches.</a:t>
            </a:r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6336665" y="1261745"/>
            <a:ext cx="5349240" cy="468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11112" y="1536192"/>
            <a:ext cx="4800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755648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Segoe UI" panose="020B0502040204020203"/>
              </a:defRPr>
            </a:pPr>
            <a:r>
              <a:t>OUR SOLUTION</a:t>
            </a:r>
          </a:p>
        </p:txBody>
      </p:sp>
      <p:sp>
        <p:nvSpPr>
          <p:cNvPr id="17" name="Oval 16"/>
          <p:cNvSpPr/>
          <p:nvPr/>
        </p:nvSpPr>
        <p:spPr>
          <a:xfrm>
            <a:off x="6611112" y="2240279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 panose="020B0502040204020203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194560"/>
            <a:ext cx="43891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200"/>
              <a:t>Unified Cloud Lakehouse Platform</a:t>
            </a:r>
            <a:endParaRPr sz="1200"/>
          </a:p>
          <a:p>
            <a:pPr>
              <a:defRPr sz="90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Integrated ADLS Gen2 with Snowflake Medallion architecture, consolidating 1.1M+ records</a:t>
            </a:r>
            <a:r>
              <a:rPr lang="en-US" sz="1200"/>
              <a:t>.</a:t>
            </a:r>
            <a:endParaRPr lang="en-US" sz="1200"/>
          </a:p>
        </p:txBody>
      </p:sp>
      <p:sp>
        <p:nvSpPr>
          <p:cNvPr id="19" name="Oval 18"/>
          <p:cNvSpPr/>
          <p:nvPr/>
        </p:nvSpPr>
        <p:spPr>
          <a:xfrm>
            <a:off x="6611112" y="317055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 panose="020B0502040204020203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056255"/>
            <a:ext cx="43891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200"/>
              <a:t>12 Automated ADF Pipelines &amp; Alerts</a:t>
            </a:r>
            <a:endParaRPr sz="1200"/>
          </a:p>
          <a:p>
            <a:pPr>
              <a:defRPr sz="90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Implemented event-driven batch loads and 5-min incremental watermark syncs with real-time Logic App Gmail failure alerts.</a:t>
            </a:r>
            <a:endParaRPr sz="1200"/>
          </a:p>
        </p:txBody>
      </p:sp>
      <p:sp>
        <p:nvSpPr>
          <p:cNvPr id="21" name="Oval 20"/>
          <p:cNvSpPr/>
          <p:nvPr/>
        </p:nvSpPr>
        <p:spPr>
          <a:xfrm>
            <a:off x="6611112" y="484187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 panose="020B0502040204020203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866004"/>
            <a:ext cx="43891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200"/>
              <a:t>Live DirectQuery Power BI Intelligence</a:t>
            </a:r>
            <a:endParaRPr sz="1200"/>
          </a:p>
          <a:p>
            <a:pPr>
              <a:defRPr sz="90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Built a 4-page interactive executive suite refreshing in sub-minute latency with strict RBAC security and PII masking.</a:t>
            </a:r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348043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C9BB4"/>
                </a:solidFill>
                <a:latin typeface="Segoe UI" panose="020B0502040204020203"/>
              </a:defRPr>
            </a:pPr>
            <a:r>
              <a:t>AMN Healthcare Data Platform</a:t>
            </a:r>
            <a:r>
              <a:rPr lang="en-US"/>
              <a:t>:</a:t>
            </a:r>
            <a:r>
              <a:t>  </a:t>
            </a:r>
            <a:r>
              <a:rPr lang="en-US"/>
              <a:t>  </a:t>
            </a:r>
            <a:r>
              <a:t>Azure · Snowflake · Power 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8C9BB4"/>
                </a:solidFill>
                <a:latin typeface="Segoe UI" panose="020B0502040204020203"/>
              </a:defRPr>
            </a:pPr>
            <a: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" y="4100829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 panose="020B0502040204020203"/>
              </a:defRPr>
            </a:pPr>
            <a:r>
              <a:t>!</a:t>
            </a:r>
          </a:p>
        </p:txBody>
      </p:sp>
      <p:sp>
        <p:nvSpPr>
          <p:cNvPr id="37" name="TextBox 10"/>
          <p:cNvSpPr txBox="1"/>
          <p:nvPr/>
        </p:nvSpPr>
        <p:spPr>
          <a:xfrm>
            <a:off x="1188720" y="4046220"/>
            <a:ext cx="43891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 panose="020B0502040204020203"/>
              </a:defRPr>
            </a:pPr>
            <a:r>
              <a:rPr lang="en-US" altLang="en-US" sz="1200"/>
              <a:t>High Infrastructure Costs</a:t>
            </a:r>
            <a:endParaRPr lang="en-US" altLang="en-US" sz="1200"/>
          </a:p>
          <a:p>
            <a:pPr>
              <a:defRPr sz="900">
                <a:solidFill>
                  <a:srgbClr val="475569"/>
                </a:solidFill>
                <a:latin typeface="Segoe UI" panose="020B0502040204020203"/>
              </a:defRPr>
            </a:pPr>
            <a:r>
              <a:rPr lang="en-US" altLang="en-US" sz="1200"/>
              <a:t>Expensive legacy infrastructure and maintenance increased operational costs</a:t>
            </a:r>
            <a:r>
              <a:rPr lang="en-US" altLang="en-US"/>
              <a:t>.</a:t>
            </a:r>
            <a:endParaRPr lang="en-US" altLang="en-US"/>
          </a:p>
        </p:txBody>
      </p:sp>
      <p:sp>
        <p:nvSpPr>
          <p:cNvPr id="38" name="Oval 37"/>
          <p:cNvSpPr/>
          <p:nvPr/>
        </p:nvSpPr>
        <p:spPr>
          <a:xfrm>
            <a:off x="6611112" y="4100829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 panose="020B0502040204020203"/>
              </a:defRPr>
            </a:pPr>
            <a:r>
              <a:t>✓</a:t>
            </a:r>
          </a:p>
        </p:txBody>
      </p:sp>
      <p:sp>
        <p:nvSpPr>
          <p:cNvPr id="40" name="TextBox 19"/>
          <p:cNvSpPr txBox="1"/>
          <p:nvPr/>
        </p:nvSpPr>
        <p:spPr>
          <a:xfrm>
            <a:off x="7022592" y="4046220"/>
            <a:ext cx="43891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 panose="020B0502040204020203"/>
              </a:defRPr>
            </a:pPr>
            <a:r>
              <a:rPr lang="en-US" altLang="en-US" sz="1200"/>
              <a:t>Cost-Efficient Cloud Platform</a:t>
            </a:r>
            <a:endParaRPr lang="en-US" altLang="en-US" sz="1200"/>
          </a:p>
          <a:p>
            <a:pPr>
              <a:defRPr sz="900">
                <a:solidFill>
                  <a:srgbClr val="475569"/>
                </a:solidFill>
                <a:latin typeface="Segoe UI" panose="020B0502040204020203"/>
              </a:defRPr>
            </a:pPr>
            <a:r>
              <a:rPr lang="en-US" altLang="en-US" sz="1200"/>
              <a:t>Cloud-based data infrastructure reduced infrastructure and operational costs</a:t>
            </a:r>
            <a:endParaRPr lang="en-US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Core Tools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A6A85"/>
                </a:solidFill>
                <a:latin typeface="Segoe UI" panose="020B0502040204020203"/>
              </a:defRPr>
            </a:pPr>
            <a:r>
              <a:t>Key technologies powering ingestion, transformation, storage, security, and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3492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8000" y="1325880"/>
            <a:ext cx="77470" cy="1457325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640840"/>
            <a:ext cx="3977639" cy="892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600"/>
              <a:t>Azure Data Factory</a:t>
            </a:r>
            <a:endParaRPr sz="1600"/>
          </a:p>
          <a:p>
            <a:pPr>
              <a:defRPr sz="950">
                <a:solidFill>
                  <a:srgbClr val="475569"/>
                </a:solidFill>
                <a:latin typeface="Segoe UI" panose="020B0502040204020203"/>
              </a:defRPr>
            </a:pPr>
            <a:r>
              <a:rPr sz="1400"/>
              <a:t>Orchestrates 12 full and incremental pipelines with storage event triggers, metadata routing, parameterization, and automated error handling.</a:t>
            </a:r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6336792" y="1325880"/>
            <a:ext cx="53492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43015" y="1325880"/>
            <a:ext cx="76200" cy="143129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1645285"/>
            <a:ext cx="3977639" cy="892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600"/>
              <a:t>Snowflake Data Warehouse</a:t>
            </a:r>
            <a:endParaRPr sz="1600"/>
          </a:p>
          <a:p>
            <a:pPr>
              <a:defRPr sz="950">
                <a:solidFill>
                  <a:srgbClr val="475569"/>
                </a:solidFill>
                <a:latin typeface="Segoe UI" panose="020B0502040204020203"/>
              </a:defRPr>
            </a:pPr>
            <a:r>
              <a:rPr sz="1400"/>
              <a:t>Multi-cluster data warehouse hosting RAW, CURATED, and MARTS schemas with owner-rights stored procedures and atomic MERGE logic</a:t>
            </a:r>
            <a: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99232"/>
            <a:ext cx="53492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99105"/>
            <a:ext cx="82550" cy="14541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330067"/>
            <a:ext cx="3977639" cy="892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600"/>
              <a:t>Azure Data Lake Storage Gen2</a:t>
            </a:r>
            <a:endParaRPr sz="1600"/>
          </a:p>
          <a:p>
            <a:pPr>
              <a:defRPr sz="950">
                <a:solidFill>
                  <a:srgbClr val="475569"/>
                </a:solidFill>
                <a:latin typeface="Segoe UI" panose="020B0502040204020203"/>
              </a:defRPr>
            </a:pPr>
            <a:r>
              <a:rPr sz="1400"/>
              <a:t>Enterprise hierarchical namespace data lake providing partitioned landing, staging, and archive storage for healthcare feeds.</a:t>
            </a:r>
            <a:endParaRPr sz="1400"/>
          </a:p>
        </p:txBody>
      </p:sp>
      <p:sp>
        <p:nvSpPr>
          <p:cNvPr id="17" name="Rounded Rectangle 16"/>
          <p:cNvSpPr/>
          <p:nvPr/>
        </p:nvSpPr>
        <p:spPr>
          <a:xfrm>
            <a:off x="6336792" y="2999232"/>
            <a:ext cx="53492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015" y="2999105"/>
            <a:ext cx="76200" cy="14414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3330067"/>
            <a:ext cx="3977639" cy="892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600"/>
              <a:t>Azure Logic Apps</a:t>
            </a:r>
            <a:endParaRPr sz="1600"/>
          </a:p>
          <a:p>
            <a:pPr>
              <a:defRPr sz="950">
                <a:solidFill>
                  <a:srgbClr val="475569"/>
                </a:solidFill>
                <a:latin typeface="Segoe UI" panose="020B0502040204020203"/>
              </a:defRPr>
            </a:pPr>
            <a:r>
              <a:rPr sz="1400"/>
              <a:t>Serverless workflow executing instant Gmail failure alerts with pipeline name, run ID, and error diagnostics within seconds.</a:t>
            </a:r>
            <a:endParaRPr sz="1400"/>
          </a:p>
        </p:txBody>
      </p:sp>
      <p:sp>
        <p:nvSpPr>
          <p:cNvPr id="21" name="Rounded Rectangle 20"/>
          <p:cNvSpPr/>
          <p:nvPr/>
        </p:nvSpPr>
        <p:spPr>
          <a:xfrm>
            <a:off x="502920" y="4672584"/>
            <a:ext cx="53492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270" y="4672330"/>
            <a:ext cx="76200" cy="1486535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owerb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5084064"/>
            <a:ext cx="731520" cy="7315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37360" y="4962144"/>
            <a:ext cx="3977639" cy="892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600"/>
              <a:t>Power BI DirectQuery</a:t>
            </a:r>
            <a:endParaRPr sz="1600"/>
          </a:p>
          <a:p>
            <a:pPr>
              <a:defRPr sz="950">
                <a:solidFill>
                  <a:srgbClr val="475569"/>
                </a:solidFill>
                <a:latin typeface="Segoe UI" panose="020B0502040204020203"/>
              </a:defRPr>
            </a:pPr>
            <a:r>
              <a:rPr sz="1400"/>
              <a:t>Interactive 4-page executive suite delivering live workforce, recruitment, staffing fill rate, and payroll intelligence.</a:t>
            </a:r>
            <a:endParaRPr sz="1400"/>
          </a:p>
        </p:txBody>
      </p:sp>
      <p:sp>
        <p:nvSpPr>
          <p:cNvPr id="25" name="Rounded Rectangle 24"/>
          <p:cNvSpPr/>
          <p:nvPr/>
        </p:nvSpPr>
        <p:spPr>
          <a:xfrm>
            <a:off x="6336792" y="4672584"/>
            <a:ext cx="53492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43015" y="4672330"/>
            <a:ext cx="76200" cy="1497965"/>
          </a:xfrm>
          <a:prstGeom prst="rect">
            <a:avLst/>
          </a:prstGeom>
          <a:solidFill>
            <a:srgbClr val="7B4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5512" y="4962779"/>
            <a:ext cx="3977639" cy="892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600"/>
              <a:t>Terraform &amp; Azure Key Vault</a:t>
            </a:r>
            <a:endParaRPr sz="1600"/>
          </a:p>
          <a:p>
            <a:pPr>
              <a:defRPr sz="950">
                <a:solidFill>
                  <a:srgbClr val="475569"/>
                </a:solidFill>
                <a:latin typeface="Segoe UI" panose="020B0502040204020203"/>
              </a:defRPr>
            </a:pPr>
            <a:r>
              <a:rPr sz="1400"/>
              <a:t>100% declarative Infrastructure as Code provisioning coupled with centralized Key Vault encryption for credentials and webhooks.</a:t>
            </a:r>
            <a:endParaRPr sz="1400"/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337566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C9BB4"/>
                </a:solidFill>
                <a:latin typeface="Segoe UI" panose="020B0502040204020203"/>
              </a:defRPr>
            </a:pPr>
            <a:r>
              <a:t>AMN Healthcare Data Platform</a:t>
            </a:r>
            <a:r>
              <a:rPr lang="en-US"/>
              <a:t>:</a:t>
            </a:r>
            <a:r>
              <a:t> Azure · Snowflake · 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8C9BB4"/>
                </a:solidFill>
                <a:latin typeface="Segoe UI" panose="020B0502040204020203"/>
              </a:defRPr>
            </a:pPr>
            <a:r>
              <a:t>4</a:t>
            </a:r>
          </a:p>
        </p:txBody>
      </p:sp>
      <p:pic>
        <p:nvPicPr>
          <p:cNvPr id="32" name="Picture 31"/>
          <p:cNvPicPr/>
          <p:nvPr/>
        </p:nvPicPr>
        <p:blipFill>
          <a:blip r:embed="rId2"/>
          <a:stretch>
            <a:fillRect/>
          </a:stretch>
        </p:blipFill>
        <p:spPr>
          <a:xfrm>
            <a:off x="556895" y="1731010"/>
            <a:ext cx="1180465" cy="719455"/>
          </a:xfrm>
          <a:prstGeom prst="rect">
            <a:avLst/>
          </a:prstGeom>
        </p:spPr>
      </p:pic>
      <p:pic>
        <p:nvPicPr>
          <p:cNvPr id="34" name="Picture 33"/>
          <p:cNvPicPr/>
          <p:nvPr/>
        </p:nvPicPr>
        <p:blipFill>
          <a:blip r:embed="rId3"/>
          <a:stretch>
            <a:fillRect/>
          </a:stretch>
        </p:blipFill>
        <p:spPr>
          <a:xfrm>
            <a:off x="795655" y="3395345"/>
            <a:ext cx="814070" cy="762000"/>
          </a:xfrm>
          <a:prstGeom prst="rect">
            <a:avLst/>
          </a:prstGeom>
        </p:spPr>
      </p:pic>
      <p:pic>
        <p:nvPicPr>
          <p:cNvPr id="35" name="Picture 34"/>
          <p:cNvPicPr/>
          <p:nvPr/>
        </p:nvPicPr>
        <p:blipFill>
          <a:blip r:embed="rId4"/>
          <a:stretch>
            <a:fillRect/>
          </a:stretch>
        </p:blipFill>
        <p:spPr>
          <a:xfrm>
            <a:off x="6647815" y="4961890"/>
            <a:ext cx="701040" cy="754380"/>
          </a:xfrm>
          <a:prstGeom prst="rect">
            <a:avLst/>
          </a:prstGeom>
        </p:spPr>
      </p:pic>
      <p:pic>
        <p:nvPicPr>
          <p:cNvPr id="36" name="Picture 35"/>
          <p:cNvPicPr/>
          <p:nvPr/>
        </p:nvPicPr>
        <p:blipFill>
          <a:blip r:embed="rId5"/>
          <a:stretch>
            <a:fillRect/>
          </a:stretch>
        </p:blipFill>
        <p:spPr>
          <a:xfrm>
            <a:off x="6336665" y="1662430"/>
            <a:ext cx="1200150" cy="789305"/>
          </a:xfrm>
          <a:prstGeom prst="rect">
            <a:avLst/>
          </a:prstGeom>
        </p:spPr>
      </p:pic>
      <p:pic>
        <p:nvPicPr>
          <p:cNvPr id="37" name="Picture 36"/>
          <p:cNvPicPr/>
          <p:nvPr/>
        </p:nvPicPr>
        <p:blipFill>
          <a:blip r:embed="rId6"/>
          <a:stretch>
            <a:fillRect/>
          </a:stretch>
        </p:blipFill>
        <p:spPr>
          <a:xfrm>
            <a:off x="6640830" y="3428365"/>
            <a:ext cx="662940" cy="695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Data Sourcing, Volumes &amp; Load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A6A85"/>
                </a:solidFill>
                <a:latin typeface="Segoe UI" panose="020B0502040204020203"/>
              </a:defRPr>
            </a:pPr>
            <a:r>
              <a:t>How 1.1M+ healthcare staffing records across 6 entities are generated, partitioned, and ingested.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534924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78447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Segoe UI" panose="020B0502040204020203"/>
              </a:defRPr>
            </a:pPr>
            <a:r>
              <a:t>SOURCE OBJECTS &amp; RECORD VOLUMES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920240"/>
          <a:ext cx="4983480" cy="388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188720"/>
                <a:gridCol w="889635"/>
                <a:gridCol w="1396365"/>
              </a:tblGrid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Source 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Load Strategy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Hospitals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Reference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Full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Staffing Requests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Azure SQL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75,000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Full + Incremental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Azure SQL (HR)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Full + Incremental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Azure SQL (HR)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Full Load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Schedules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Azure SQL (HR)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Full + Incremental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Payroll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Azure SQL (HR)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300,000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75569"/>
                          </a:solidFill>
                          <a:latin typeface="Segoe UI" panose="020B0502040204020203"/>
                        </a:defRPr>
                      </a:pPr>
                      <a:r>
                        <a:t>Full + Incremental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TOTAL DATASET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All Feeds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1,107,500+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 panose="020B0502040204020203"/>
                        </a:defRPr>
                      </a:pPr>
                      <a:r>
                        <a:t>Mixed Architecture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36792" y="1298448"/>
            <a:ext cx="534924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3015" y="1397635"/>
            <a:ext cx="76200" cy="1292225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1051"/>
            <a:ext cx="493776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600"/>
              <a:t>Python Synthetic Data Generator</a:t>
            </a:r>
            <a:endParaRPr sz="16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Generator Script: generate_amn_hr_data.py</a:t>
            </a:r>
            <a:endParaRPr sz="12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Referential Integrity: Enforced across Candidates, Hospitals, Shifts &amp; Payroll</a:t>
            </a:r>
            <a:endParaRPr sz="12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Total Generated Scale: 1,107,500+ valid records output to UTF-8 CSVs</a:t>
            </a:r>
            <a:endParaRPr sz="1200"/>
          </a:p>
        </p:txBody>
      </p:sp>
      <p:sp>
        <p:nvSpPr>
          <p:cNvPr id="11" name="Rounded Rectangle 10"/>
          <p:cNvSpPr/>
          <p:nvPr/>
        </p:nvSpPr>
        <p:spPr>
          <a:xfrm>
            <a:off x="6336792" y="2971800"/>
            <a:ext cx="534924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665" y="2971800"/>
            <a:ext cx="82550" cy="139573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81655"/>
            <a:ext cx="4937760" cy="12617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600"/>
              <a:t>Incremental Sync &amp; Delta Watermarking</a:t>
            </a:r>
            <a:endParaRPr sz="16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Watermark Storage: CONTROL.WATERMARK table tracks last extracted</a:t>
            </a:r>
            <a:r>
              <a:rPr lang="en-US" sz="1200"/>
              <a:t>,</a:t>
            </a:r>
            <a:r>
              <a:rPr sz="1200"/>
              <a:t> updated_at</a:t>
            </a:r>
            <a:endParaRPr sz="12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Execution Frequency: 5-minute scheduled ADF polling interval</a:t>
            </a:r>
            <a:endParaRPr sz="12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Merge Engine: Automated atomic UPSERT via Snowflake Stored Procedures</a:t>
            </a:r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6336792" y="4645152"/>
            <a:ext cx="534924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6665" y="4645025"/>
            <a:ext cx="82550" cy="142938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888865"/>
            <a:ext cx="4937760" cy="953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 panose="020B0502040204020203"/>
              </a:defRPr>
            </a:pPr>
            <a:r>
              <a:rPr sz="1400"/>
              <a:t>Event-Driven Batch File Drops</a:t>
            </a:r>
            <a:endParaRPr sz="14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Trigger Mechanism: Storage Event trigger on ADLS Gen2 file drop</a:t>
            </a:r>
            <a:endParaRPr sz="12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Manifest Protocol: AMN_BATCH_READY.json validates file completeness</a:t>
            </a:r>
            <a:endParaRPr sz="1200"/>
          </a:p>
          <a:p>
            <a:pPr>
              <a:defRPr sz="850">
                <a:solidFill>
                  <a:srgbClr val="475569"/>
                </a:solidFill>
                <a:latin typeface="Segoe UI" panose="020B0502040204020203"/>
              </a:defRPr>
            </a:pPr>
            <a:r>
              <a:rPr sz="1200"/>
              <a:t>• Execution Auditing: Every run recorded to CONTROL.PIPELINE_RUN_LOG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338328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C9BB4"/>
                </a:solidFill>
                <a:latin typeface="Segoe UI" panose="020B0502040204020203"/>
              </a:defRPr>
            </a:pPr>
            <a:r>
              <a:t>AMN Healthcare Data Platform  Azure · Snowflake · 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8C9BB4"/>
                </a:solidFill>
                <a:latin typeface="Segoe UI" panose="020B0502040204020203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 panose="020B0502040204020203"/>
              </a:defRPr>
            </a:pPr>
            <a:r>
              <a:t>End-to-End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A6A85"/>
                </a:solidFill>
                <a:latin typeface="Segoe UI" panose="020B0502040204020203"/>
              </a:defRPr>
            </a:pPr>
            <a:r>
              <a:t>System architecture: Azure SQL &amp; hospital sources → ADLS Gen2 → ADF → Snowflake → Power BI.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3112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336" y="1307592"/>
            <a:ext cx="11393424" cy="5065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44551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C9BB4"/>
                </a:solidFill>
                <a:latin typeface="Segoe UI" panose="020B0502040204020203"/>
              </a:defRPr>
            </a:pPr>
            <a:r>
              <a:t>AMN Healthcare Data Platform</a:t>
            </a:r>
            <a:r>
              <a:rPr lang="en-US"/>
              <a:t>:</a:t>
            </a:r>
            <a:r>
              <a:t> </a:t>
            </a:r>
            <a:r>
              <a:rPr lang="en-US"/>
              <a:t>  </a:t>
            </a:r>
            <a:r>
              <a:t>Azure · Snowflake ·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8C9BB4"/>
                </a:solidFill>
                <a:latin typeface="Segoe UI" panose="020B0502040204020203"/>
              </a:defRPr>
            </a:pPr>
            <a:r>
              <a:t>5</a:t>
            </a:r>
          </a:p>
        </p:txBody>
      </p:sp>
      <p:pic>
        <p:nvPicPr>
          <p:cNvPr id="10" name="Picture 9" descr="Copy of AMN.drawio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60" y="1440180"/>
            <a:ext cx="10720705" cy="46818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4471</Words>
  <Application>WPS Presentation</Application>
  <PresentationFormat>On-screen Show (4:3)</PresentationFormat>
  <Paragraphs>205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monospace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Syed Shoaib Sherazi</cp:lastModifiedBy>
  <cp:revision>9</cp:revision>
  <dcterms:created xsi:type="dcterms:W3CDTF">2013-01-27T09:14:00Z</dcterms:created>
  <dcterms:modified xsi:type="dcterms:W3CDTF">2026-09-07T05:58:24Z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7CC47EA973DF456BAA33E0D3025AF388_12</vt:lpwstr>
  </property>
</Properties>
</file>